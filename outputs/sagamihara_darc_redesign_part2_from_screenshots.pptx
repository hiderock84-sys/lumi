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B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0"/>
            <a:ext cx="6796735" cy="6858000"/>
          </a:xfrm>
          <a:prstGeom prst="rect">
            <a:avLst/>
          </a:prstGeom>
          <a:solidFill>
            <a:srgbClr val="1C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4480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Meiryo"/>
              </a:rPr>
              <a:t>相模原ダルク</a:t>
            </a:r>
            <a:br/>
            <a:r>
              <a:t>企業提案品質</a:t>
            </a:r>
            <a:br/>
            <a:r>
              <a:t>リデザイン資料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4CCF0"/>
                </a:solidFill>
                <a:latin typeface="Meiryo"/>
              </a:rPr>
              <a:t>参考スクリーンショット（第2回分）の内容を</a:t>
            </a:r>
            <a:br/>
            <a:r>
              <a:t>省略せず再構築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914400"/>
            <a:ext cx="5943600" cy="521208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17043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2142"/>
                </a:solidFill>
                <a:latin typeface="Meiryo"/>
              </a:rPr>
              <a:t>収録セクション（PAGE 10-18相当）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5ステージ制 回復プログラム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相模原ダルクグループ（通所2 / 入寮6）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回復プログラム（デイケア / ナイトケア / 個別）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依存症の理解（7つの特徴）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交差依存（クロスアディクション）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長期離脱症状（PAWS）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家族支援プログラム（CRAFT / 家族会）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連携機関とネットワーク（医療・行政・司法・地域）</a:t>
            </a:r>
          </a:p>
          <a:p>
            <a:pPr/>
            <a:r>
              <a:rPr sz="1300">
                <a:solidFill>
                  <a:srgbClr val="161E2F"/>
                </a:solidFill>
                <a:latin typeface="Meiryo"/>
              </a:rPr>
              <a:t>• お問い合わせ（CHANGE YOUR LIFE!）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5ステージ制 回復プログラム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MEMBERからMANAGERまで段階的に自立を実装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325880"/>
            <a:ext cx="2286000" cy="384048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導入期 1-3ヶ月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離脱症状安定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24h見守り・服薬管理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NA/AA・スポーツ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安定と適応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2928" y="1325880"/>
            <a:ext cx="2286000" cy="384048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基礎期 4-6ヶ月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認知変容と役割理解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SMARPP全24回（CBT）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施設内係活動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認知療法修了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30368" y="1325880"/>
            <a:ext cx="2286000" cy="384048"/>
          </a:xfrm>
          <a:prstGeom prst="rect">
            <a:avLst/>
          </a:prstGeom>
          <a:solidFill>
            <a:srgbClr val="32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009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TRAINEE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成長期 7-12ヶ月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リーダーシップ発揮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新入寮者サポート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WRAP実践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関係修復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07808" y="1325880"/>
            <a:ext cx="2286000" cy="384048"/>
          </a:xfrm>
          <a:prstGeom prst="rect">
            <a:avLst/>
          </a:prstGeom>
          <a:solidFill>
            <a:srgbClr val="8A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753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CHIEF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準備期 13-18ヶ月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就労先確保・通勤準備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単独外出の拡大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B型訓練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582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就労内定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524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85248" y="1325880"/>
            <a:ext cx="2286000" cy="384048"/>
          </a:xfrm>
          <a:prstGeom prst="rect">
            <a:avLst/>
          </a:prstGeom>
          <a:solidFill>
            <a:srgbClr val="E45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497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497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自立期 18ヶ月〜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外部就労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一人暮らし開始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金銭・服薬自己管理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1326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326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経済的自立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1024128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D70FF"/>
                </a:solidFill>
                <a:latin typeface="Meiryo"/>
              </a:rPr>
              <a:t>標準期間: 18ヶ月〜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相模原ダルクグループ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通所2拠点・入寮6拠点の包括ネットワーク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11556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447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全8施設が連携し、状態に応じた切れ目ない回復支援を提供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48840"/>
            <a:ext cx="54864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042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70FF"/>
                </a:solidFill>
                <a:latin typeface="Meiryo"/>
              </a:rPr>
              <a:t>通所（2拠点）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78608"/>
            <a:ext cx="51206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相模原ダルク デイケアセンター: 各依存別プログラム / 相談受付・家族会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相模原ダルク OTC: 就労継続支援B型 / 弁当惣菜・野菜づくり / 一般就労準備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2148840"/>
            <a:ext cx="5486400" cy="4133087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3042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8B3"/>
                </a:solidFill>
                <a:latin typeface="Meiryo"/>
              </a:rPr>
              <a:t>入寮（6拠点）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4224" y="2596896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688336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大和PCC（初期）: 定員25名・断薬断酒特化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596896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688336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町田RC（中期）: 欲求・身体症状が落ち着いた方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4" y="3712464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803904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愛川TC（中期）: バリアフリー完備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3712464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3803904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上溝HRC（中期）: 心の癒しに特化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4828032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919472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相模原WPH（自立）: 個室9室・就労準備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4828032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4919472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西門ACC（卒業後）: 仲間と暮らし自立を目指す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回復プログラム（デイ・ナイト・個別）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集団・生活・個別支援を統合する3プログラム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3611880" cy="420624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デイケア（通所）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ミーティング（言いっぱなし・聞きっぱなし）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12ステップ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SAGARPP（再発予防/CBT）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ワークショップ・アート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スポーツ＆プレジャー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平日 9:00-17:00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417320"/>
            <a:ext cx="3611880" cy="420624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ナイトケア（寮）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睡眠・食事改善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集団生活での関係構築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料理・洗濯の練習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金銭・服薬管理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24時間体制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生活基盤の再構築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932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417320"/>
            <a:ext cx="3611880" cy="420624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個別サポート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個別カウンセリング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セルフケア指導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就労トレーニング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継続的状態管理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随時対応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状態に合わせた継続支援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依存症の理解（7つの特徴）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科学的理解に基づく回復支援の前提条件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11064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2142"/>
                </a:solidFill>
                <a:latin typeface="Meiryo"/>
              </a:rPr>
              <a:t>「意志の弱さ」ではなく「治療が必要な病気」として理解する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4825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1284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1. 一次性の病気（原因は薬物使用そのもの）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204825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2. 慢性の病気（生涯ケアが必要）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4553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3. 進行性の病気（使用継続で喪失拡大）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14553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1012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4. 死亡率が高い（事故・自殺・ODリスク）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24281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5. 性格が変化する（回復で本来性を回復）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424281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0740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6. 依存対象が移行（交差依存）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34009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0468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7. 人を巻き込む病気（家族支援が鍵）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交差依存（クロスアディクション）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本命停止後に別依存へ移行しスリップへ戻る悪循環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335024"/>
            <a:ext cx="722376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54480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悪循環の5ステップ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74519"/>
            <a:ext cx="67665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1) 本命の依存をやめる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2) 苦しみが増える（不安・渇望）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3) 他の依存へ移行（処方薬・ギャンブル等）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4) 問題解決できない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5) 本命へ戻る（スリップ）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526280"/>
            <a:ext cx="6766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D70FF"/>
                </a:solidFill>
                <a:latin typeface="Meiryo"/>
              </a:rPr>
              <a:t>予防策: 早期介入 / 包括的再発予防 / ピア支援・12ステップ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1335024"/>
            <a:ext cx="347472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依存タイプ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物質依存: アルコール / 薬物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プロセス依存: ギャンブル / 買い物 / ネット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関係依存: 共依存 / 性依存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対応: 包括的再発予防 + 家族支援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長期離脱症状（PAWS）の理解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12-24ヶ月寛解期における6症状と対処ポイント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110642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81328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2142"/>
                </a:solidFill>
                <a:latin typeface="Meiryo"/>
              </a:rPr>
              <a:t>ピーク 3-6ヶ月 / 寛解 12-24ヶ月 / 波を繰り返しながら徐々に回復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7627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5915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① 睡眠障害（不眠・過眠・早朝覚醒）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217627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5915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② ストレス過敏（音・視線・人混み）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59359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③ 記憶障害（短期記憶の低下）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41071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59359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④ 感情障害（怒り・無感情・不安定）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64515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2803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⑤ 身体バランス不調（疲労・めまい・頭痛）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464515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82803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⑥ 思考障害（焦り・固執・集中力低下）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6163056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93C32"/>
                </a:solidFill>
                <a:latin typeface="Meiryo"/>
              </a:rPr>
              <a:t>重要: スリップリスクが高まる時期は一人で抱え込まずチームで対応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家族支援プログラム（CRAFT / 家族会）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家族は回復の重要パートナー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7498079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90472"/>
            <a:ext cx="7040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CRAFT 5ステップ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83080"/>
            <a:ext cx="7040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1. 理解・学ぶ（依存症理解とCRAFT基礎）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2. 相談・家族会（毎週相談 / 月1家族会）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3. 関わりを整える（肯定的対話 / 境界線設定）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4. パターンを断つ（共依存・イネイブリング脱却）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5. 継続と強化（回復行動を支える仕組み）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98448"/>
            <a:ext cx="3456432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90472"/>
            <a:ext cx="2971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援助の質を高める5点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0175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原因探しをしない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責めない・なじらない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あなたは一人じゃない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タイミングがすべて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イネイブリングを避ける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連携機関とネットワーク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医療・行政・司法・地域と接続し予防から社会復帰まで実装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389888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389888"/>
            <a:ext cx="5504688" cy="329184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医療（MEDICAL）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828800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北里大学病院（KIPP）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高尾駒木野病院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相模湖病院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1389888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389888"/>
            <a:ext cx="5504688" cy="329184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行政（PUBLIC）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28800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相模原市精神保健福祉センター（FLOW）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東京多摩総合精神保健福祉センター（TAMARPP）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831335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31335"/>
            <a:ext cx="5504688" cy="329184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司法（JUSTICE）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70247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横浜保護観察所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府中刑務所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八街少年院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3831335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3831335"/>
            <a:ext cx="5504688" cy="329184"/>
          </a:xfrm>
          <a:prstGeom prst="rect">
            <a:avLst/>
          </a:prstGeom>
          <a:solidFill>
            <a:srgbClr val="7B5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0448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地域（COMMUNITY）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270247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地域行政（福祉課・保健所）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専門病院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学校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企業（就労連携）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お問い合わせ｜CHANGE YOUR LIFE!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依存症からの回復を全力で支えます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325880"/>
            <a:ext cx="111556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2142"/>
                </a:solidFill>
                <a:latin typeface="Meiryo"/>
              </a:rPr>
              <a:t>CHANGE YOUR LIFE!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2607C"/>
                </a:solidFill>
                <a:latin typeface="Meiryo"/>
              </a:rPr>
              <a:t>変われる。変われた仲間がいる。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834640"/>
            <a:ext cx="3584448" cy="384048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電話でのご相談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042-707-0391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平日 9:00-17:00 / 土祝〜14:00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2834640"/>
            <a:ext cx="3584448" cy="384048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お問い合わせフォーム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https://s-darc.com/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24時間受付可能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2752" y="2834640"/>
            <a:ext cx="3584448" cy="384048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所在地 / 運営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〒252-0237 相模原市中央区千代田3-3-20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一般社団法人 相模原ダルク / 代表理事 田中秀泰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