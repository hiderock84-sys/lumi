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183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43891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"/>
              </a:rPr>
              <a:t>相模原ダルク</a:t>
            </a:r>
            <a:br/>
            <a:r>
              <a:t>企業提案品質</a:t>
            </a:r>
            <a:br/>
            <a:r>
              <a:t>リデザイン資料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977639"/>
            <a:ext cx="4480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8CCEB"/>
                </a:solidFill>
                <a:latin typeface="Meiryo"/>
              </a:rPr>
              <a:t>参考スクリーンショット（第1回分）の内容を</a:t>
            </a:r>
            <a:br/>
            <a:r>
              <a:t>省略せず再構築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914400"/>
            <a:ext cx="6035040" cy="5029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23444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0244A"/>
                </a:solidFill>
                <a:latin typeface="Meiryo"/>
              </a:rPr>
              <a:t>収録セクション（PAGE 2-9相当）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486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本日のご説明内容（10テーマ）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日本の依存症情勢 2024-2025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3段階予防と相模原ダルクの役割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組織概要・理念（PHILOSOPHY / MISSION）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実績ハイライト（400+ / 5%以下 / 90%以上 / 70名程度）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強み 1/3（実績・プログラム・24h・5ステージ）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強み 2/3（設備・当事者スタッフ・理事・就労B型）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強み 3/3（連携・地域参加・家族支援・相談窓口）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本日のご説明内容｜本日のテーマ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10テーマを企業説明向けに再整理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11556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44A"/>
                </a:solidFill>
                <a:latin typeface="Meiryo"/>
              </a:rPr>
              <a:t>予定時間: 約60分 / テーマ数: 10 / 拠点数: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7657F"/>
                </a:solidFill>
                <a:latin typeface="Meiryo"/>
              </a:rPr>
              <a:t>01〜10 の全項目（原文趣旨）を維持し、理解導線を強化したレイアウトへ再設計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43200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834640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" y="29077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83464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日本の依存症情勢（2024-2025）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04495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最新の薬物事犯統計と若年層の情勢分析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56432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547872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" y="362102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4787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予防の3段階と当施設の役割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75818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第一次〜第三次予防のフレームワークと実装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69664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4261104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" y="433425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26110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組織概要・理念と実績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47141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2014年設立、400名以上の支援実績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882896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4974336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" y="50474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97433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相模原ダルクの8つの強み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518464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回復支援の核となる競争優位性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596128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687568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" y="57607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68756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5ステージ制 回復プログラム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589788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段階的目標設定と役割付与による自立支援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743200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82512" y="2834640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6812" y="29077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283464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施設・サービスの全体像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304495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5つの拠点と支援機能のネットワーク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456432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82512" y="3547872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6812" y="362102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354787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回復プログラム詳細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375818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デイ・ナイト・個別の包括的アプローチ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169664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82512" y="4261104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6812" y="433425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7728" y="426110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依存症の理解（7つの特徴）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67728" y="447141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科学的理解に基づく回復支援の前提条件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4882896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82512" y="4974336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6812" y="50474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7728" y="497433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家族支援・連携ネットワーク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8" y="518464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CRAFTプログラムと地域連携体制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5596128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82512" y="5687568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6812" y="57607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67728" y="568756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お問い合わせ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67728" y="589788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初回相談無料・秘密厳守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日本の依存症情勢 2024-2025 最新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警察庁白書情報を軸に、示唆まで明確化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39496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7657F"/>
                </a:solidFill>
                <a:latin typeface="Meiryo"/>
              </a:rPr>
              <a:t>2024年 薬物事犯検挙人員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10244A"/>
                </a:solidFill>
                <a:latin typeface="Meiryo"/>
              </a:rPr>
              <a:t>13,462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2128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0244A"/>
                </a:solidFill>
                <a:latin typeface="Meiryo"/>
              </a:rPr>
              <a:t>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51F31"/>
                </a:solidFill>
                <a:latin typeface="Meiryo"/>
              </a:rPr>
              <a:t>覚醒剤事犯 45.5% / 大麻事犯 45.1%</a:t>
            </a:r>
            <a:br/>
            <a:r>
              <a:t>引き続き高水準を維持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2120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注目トピック (2024-2025)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大麻取締法改正（2024年12月施行）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SNS売買の急増（特に若年層）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暴力団関与（覚醒剤密売の約50%）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092708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44A"/>
                </a:solidFill>
                <a:latin typeface="Meiryo"/>
              </a:rPr>
              <a:t>重要なポイント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2024年12月の法改正後、早期相談・再発予防・家族支援を横断した地域導線の再設計が必要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若年層へのSNS経由の接触を前提に、啓発だけでなく相談導線の見える化が重要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公的機関・医療・民間回復施設の連携を前提にした継続支援モデルが求められる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※ 2024年データは警察庁公式統計、2025年は速報値を含む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3段階予防と相模原ダルクの役割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第一次（啓発）/ 第二次（早期介入）/ 第三次（回復）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109728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17904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相模原ダルクは、予防から社会復帰まで切れ目ない支援を提供（支援実績 400+）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0280"/>
            <a:ext cx="342900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40280"/>
            <a:ext cx="3429000" cy="420624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3230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第一次予防（啓発）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講演・研修による乱用防止啓発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学校・地域での薬物乱用防止教育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エイサー演舞等の文化活動による啓発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ニュースレター発行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240280"/>
            <a:ext cx="342900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240280"/>
            <a:ext cx="3429000" cy="420624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43230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第二次予防（介入）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医療・行政・司法と連携した早期発見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KIPP / FLOW / TAMARPP 協力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個別相談・初期カウンセリング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家族支援プログラム / 再乱用防止指導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240280"/>
            <a:ext cx="342900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240280"/>
            <a:ext cx="3429000" cy="420624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43230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第三次予防（回復）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889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入寮・通所による集中回復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5段階ステージ制・就労継続支援B型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24時間見守り / 医療・行政・司法連携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アフターケア / 家族支援 / 社会復帰支援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組織概要・理念｜PHILOSOPHY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人としての尊厳を大切に、生き直す力を支える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3383280" cy="5394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0244A"/>
                </a:solidFill>
                <a:latin typeface="Meiryo"/>
              </a:rPr>
              <a:t>組織情報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28346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法人名: 一般社団法人 相模原ダルク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設立日: 2014年3月3日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代表理事: 田中 秀泰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所在地: 神奈川県相模原市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支援実績: 延べ400名以上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736092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0244A"/>
                </a:solidFill>
                <a:latin typeface="Meiryo"/>
              </a:rPr>
              <a:t>PHILOSOPHY｜理念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11680"/>
            <a:ext cx="6858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51F31"/>
                </a:solidFill>
                <a:latin typeface="Meiryo"/>
              </a:rPr>
              <a:t>「人としての尊厳を大切に、生き直す力を支える」</a:t>
            </a:r>
            <a:br/>
            <a:r>
              <a:t>一人ひとりを尊重し、安心して自分を表現できる共同の場をつくる。</a:t>
            </a:r>
            <a:br/>
            <a:r>
              <a:t>誠実な関わりと対話を通じ、本来持つ力を呼び起こし育てる。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4297680"/>
            <a:ext cx="736092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57200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0244A"/>
                </a:solidFill>
                <a:latin typeface="Meiryo"/>
              </a:rPr>
              <a:t>MISSION｜使命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892040"/>
            <a:ext cx="6858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51F31"/>
                </a:solidFill>
                <a:latin typeface="Meiryo"/>
              </a:rPr>
              <a:t>「生き直す力で依存症からの回復を」</a:t>
            </a:r>
            <a:br/>
            <a:r>
              <a:t>回復は恐れや圧力では育たない。安心できる環境と誠実な関わりの中で育つ。</a:t>
            </a:r>
            <a:br/>
            <a:r>
              <a:t>施設・地域・社会の中に回復の共同体を作り続ける。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実績ハイライト｜データで見る相模原ダルク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数値は2026年時点（自施設集計）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097280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244A"/>
                </a:solidFill>
                <a:latin typeface="Meiryo"/>
              </a:rPr>
              <a:t>400名以上の支援実績 / 5%以下の再使用率 / 90%以上の卒業後継続率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43200"/>
            <a:ext cx="260604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0244A"/>
                </a:solidFill>
                <a:latin typeface="Meiryo"/>
              </a:rPr>
              <a:t>400+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1F31"/>
                </a:solidFill>
                <a:latin typeface="Meiryo"/>
              </a:rPr>
              <a:t>回復支援実績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創設以来の延べ支援人数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743200"/>
            <a:ext cx="260604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0175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0244A"/>
                </a:solidFill>
                <a:latin typeface="Meiryo"/>
              </a:rPr>
              <a:t>5%以下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657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1F31"/>
                </a:solidFill>
                <a:latin typeface="Meiryo"/>
              </a:rPr>
              <a:t>入所中の再使用率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977639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24時間見守り・プログラム実装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743200"/>
            <a:ext cx="260604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175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0244A"/>
                </a:solidFill>
                <a:latin typeface="Meiryo"/>
              </a:rPr>
              <a:t>90%以上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57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1F31"/>
                </a:solidFill>
                <a:latin typeface="Meiryo"/>
              </a:rPr>
              <a:t>卒業後の継続率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77639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ピア支援・アフターケア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2743200"/>
            <a:ext cx="260604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0175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0244A"/>
                </a:solidFill>
                <a:latin typeface="Meiryo"/>
              </a:rPr>
              <a:t>70名程度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657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1F31"/>
                </a:solidFill>
                <a:latin typeface="Meiryo"/>
              </a:rPr>
              <a:t>受け入れ体制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977639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大型寮5 + 個室寮9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※ 再使用率は入所中当事者を対象とした2026年1月時点調査（n=70）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相模原ダルクの強み（1/3）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驚異的実績 / 最新プログラム / 24時間見守り / 5段階ステージ制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5440680" cy="320040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驚異的な実績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延べ400名以上の支援実績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在寮中再使用率5%以下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卒業後継続率90%以上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定員70名規模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5440680" cy="320040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最新プログラム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MATRIX/CBTベースの再発予防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12ステップ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個別カウンセリング統合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毎年アップデート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5440680" cy="320040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24時間見守り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寮にスタッフ常駐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随時相談可能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初期再使用リスク低減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生活リズム確立支援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977639"/>
            <a:ext cx="5440680" cy="320040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5段階ステージ制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Stage1〜5で可視化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目標・課題を明確化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権利と責任の段階拡大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段階的自立を促進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相模原ダルクの強み（2/3）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設備規模 / 当事者スタッフ / 理事専門性 / 就労継続支援B型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5440680" cy="320040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関東圏最大規模の設備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定員70名体制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24時間体制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大型寮5 + 個室寮9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送迎支援あり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5440680" cy="320040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当事者スタッフ多数在籍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経験者だからできる寄り添い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寮に24時間常駐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躓きやすい時期への助言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ピア支援の実装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5440680" cy="320040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経験豊富な理事陣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各分野のエキスパートが牽引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医療・福祉・司法と連携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開設10年以上の安定運営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組織全体で回復へコミット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977639"/>
            <a:ext cx="5440680" cy="320040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就労継続支援B型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無理のない就労訓練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治療継続と両立可能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一般就労へのステップ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自立に向けた現実的支援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相模原ダルクの強み（3/3）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医療・行政・司法連携 / 地域参加 / 家族支援 / 相談窓口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5440680" cy="32004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医療・行政・司法連携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KIPP/FLOW/TAMARPP 協力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保護観察所の再乱用防止プログラム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刑務所・少年院での離脱指導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現場で実装できる協働体制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5440680" cy="32004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地域社会への参加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琉球太鼓エイサー演舞参加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清掃ボランティア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学校・地域での講演活動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共生を育む継続活動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5440680" cy="32004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家族支援を継続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毎週の家族相談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月1回の家族会（学習+MTG）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CRAFT的関わりの実践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家族も回復のパートナー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977639"/>
            <a:ext cx="5440680" cy="32004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相談窓口を常設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初回相談無料・秘密厳守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本人・家族・周囲どなたでも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平日 9:00-17:00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土祝 9:00-14:00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