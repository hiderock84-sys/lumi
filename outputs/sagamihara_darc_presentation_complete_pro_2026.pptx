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"/>
            <a:ext cx="5669280" cy="6675120"/>
          </a:xfrm>
          <a:prstGeom prst="rect">
            <a:avLst/>
          </a:prstGeom>
          <a:solidFill>
            <a:srgbClr val="0A1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77840" y="182880"/>
            <a:ext cx="6613855" cy="6675120"/>
          </a:xfrm>
          <a:prstGeom prst="rect">
            <a:avLst/>
          </a:prstGeom>
          <a:solidFill>
            <a:srgbClr val="10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F0F4FC"/>
                </a:solidFill>
                <a:latin typeface="Meiryo"/>
              </a:rPr>
              <a:t>一般社団法人</a:t>
            </a:r>
            <a:br/>
            <a:r>
              <a:t>相模原ダルク</a:t>
            </a:r>
            <a:br/>
            <a:r>
              <a:t>紹介資料 完全版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657600"/>
            <a:ext cx="4754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>
                <a:solidFill>
                  <a:srgbClr val="C2D2EC"/>
                </a:solidFill>
                <a:latin typeface="Meiryo"/>
              </a:rPr>
              <a:t>CHANGE YOUR LIFE!</a:t>
            </a:r>
            <a:br/>
            <a:r>
              <a:t>依存症からの回復支援を、予防から社会復帰まで一気通貫で実装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097280"/>
            <a:ext cx="5806440" cy="43891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08776" y="1207008"/>
            <a:ext cx="5440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6EFDC"/>
                </a:solidFill>
                <a:latin typeface="Meiryo"/>
              </a:rPr>
              <a:t>本資料の構成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8776" y="1664208"/>
            <a:ext cx="54406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Part A: 公式サイト・公的情報を反映した新規プロ仕様セクション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Part B: 提供資料の完全コピー（18ページ）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目的: 既存情報の維持 + 最新情報・経営視点を追加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用途: 説明会、連携機関向け提案、家族会・支援機関共有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1722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94A7C8"/>
                </a:solidFill>
                <a:latin typeface="Meiryo"/>
              </a:rPr>
              <a:t>作成日: 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相模原ダルクの提供価値を、実績・支援設計・社会連携の3軸で整理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657600" cy="521208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16128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組織価値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18488"/>
            <a:ext cx="3291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理念: 人としての尊厳を大切に、生き直す力を支える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依存症回復を、生活・就労・家族支援まで含めて設計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当事者スタッフ中心の伴走型支援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051560"/>
            <a:ext cx="3657600" cy="521208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161288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実績・体制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618488"/>
            <a:ext cx="329184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創設以来の延べ支援実績 400名以上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5つの大型寮 + 個室寮9室、定員約70名規模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24時間見守りと5段階ステージ制による自立支援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51560"/>
            <a:ext cx="3474720" cy="521208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16128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対外連携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618488"/>
            <a:ext cx="3108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医療・行政・司法・地域団体とのネットワーク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予防啓発、家族会、就労支援を統合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地域の依存症課題に対する社会資源として機能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新規セクションと完全コピー付録の全体像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188720"/>
            <a:ext cx="5303520" cy="475488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29844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Part A (新規)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1755648"/>
            <a:ext cx="4937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1. 外部環境（依存症情勢・政策動向）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2. 相模原ダルクの理念・提供価値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3. サービスポートフォリオと支援プロセス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4. 差別化要因（8つの強み）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5. 連携ネットワーク・家族支援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188720"/>
            <a:ext cx="5303520" cy="475488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0216" y="129844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Part B (付録)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1755648"/>
            <a:ext cx="49377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6. KPIダッシュボード設計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7. 実行ロードマップ（提案）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8. お問い合わせ導線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9. 出典一覧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10. 付録: 提供資料の完全コピー（18ページ）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外部環境: 日本の薬物情勢（2024-2025）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警察庁 令和7年警察白書・厚生労働省依存症対策ページを基に要約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5577840" cy="539496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0700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公的統計ハイライト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664208"/>
            <a:ext cx="52120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2024年の薬物事犯検挙人員は13,462人（高水準を維持）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全薬物事犯に占める比率: 覚醒剤 45.5%、大麻 45.1%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20歳代以下の若年層で大麻事犯が継続して高水準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2024年12月: 大麻施用罪を含む法改正が施行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097280"/>
            <a:ext cx="5074920" cy="539496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207008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示唆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1664208"/>
            <a:ext cx="470916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早期介入・相談導線の拡充が一層重要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家族・学校・地域連携による一次予防の継続が必要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治療後の再発予防と社会復帰支援の統合設計が鍵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公的機関・民間回復施設の役割分担と接続強化が必要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理念・ミッション・提供価値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公式サイト施設情報を基に再構成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5212080" cy="539496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207008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理念・使命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664208"/>
            <a:ext cx="48463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理念: 人としての尊厳を大切に、生き直す力を支える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使命: 生き直す力で依存症からの回復を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安心して自分を表現できる共同の場づくりを重視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5394960" cy="539496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207008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提供価値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664208"/>
            <a:ext cx="50292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相談・入寮・通所・就労支援を段階的に提供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本人だけでなく家族・周囲の方の相談にも対応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依存症回復を社会参加までつなぐ伴走型支援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地域の多機関連携ネットワークのハブ機能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サービスポートフォリオ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公式ページ記載の事業内容を俯瞰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611880" cy="237744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16128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76EFDC"/>
                </a:solidFill>
                <a:latin typeface="Meiryo"/>
              </a:rPr>
              <a:t>障害福祉サービス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618488"/>
            <a:ext cx="3246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自立訓練（生活訓練）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就労継続支援B型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段階的な社会参加を支援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051560"/>
            <a:ext cx="3611880" cy="237744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16128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76EFDC"/>
                </a:solidFill>
                <a:latin typeface="Meiryo"/>
              </a:rPr>
              <a:t>入寮事業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1618488"/>
            <a:ext cx="3246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大型寮5か所 + 個室寮9室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24時間体制の見守り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依存症治療に特化した住環境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051560"/>
            <a:ext cx="3611880" cy="237744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6" y="1161288"/>
            <a:ext cx="3246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76EFDC"/>
                </a:solidFill>
                <a:latin typeface="Meiryo"/>
              </a:rPr>
              <a:t>相談事業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9056" y="1618488"/>
            <a:ext cx="324612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本人・家族・周囲の方が相談可能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初回無料（公式案内）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秘密保持のもとで対応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11880"/>
            <a:ext cx="5715000" cy="265176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721608"/>
            <a:ext cx="5349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76EFDC"/>
                </a:solidFill>
                <a:latin typeface="Meiryo"/>
              </a:rPr>
              <a:t>連携・協力事業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4178808"/>
            <a:ext cx="5349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医療機関・行政機関・地域団体との連携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依存症回復プログラムの監修・助言・運営協力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地域全体の回復支援ネットワークを形成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3611880"/>
            <a:ext cx="5303520" cy="265176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57416" y="3721608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76EFDC"/>
                </a:solidFill>
                <a:latin typeface="Meiryo"/>
              </a:rPr>
              <a:t>予防・啓発事業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57416" y="4178808"/>
            <a:ext cx="49377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教育機関・行政・団体向け講演活動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地域イベント参加（エイサー演舞など）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予防啓発を通じた再発防止・早期相談促進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回復支援プロセス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相談から社会復帰・継続支援までの標準導線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1828800" cy="201168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93392"/>
            <a:ext cx="1600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4FC"/>
                </a:solidFill>
                <a:latin typeface="Meiryo"/>
              </a:rPr>
              <a:t>01 初回相談</a:t>
            </a:r>
            <a:br/>
            <a:r>
              <a:t>（本人・家族・関係者）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828800"/>
            <a:ext cx="1828800" cy="2011680"/>
          </a:xfrm>
          <a:prstGeom prst="rect">
            <a:avLst/>
          </a:prstGeom>
          <a:solidFill>
            <a:srgbClr val="1E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14600" y="1993392"/>
            <a:ext cx="1600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4FC"/>
                </a:solidFill>
                <a:latin typeface="Meiryo"/>
              </a:rPr>
              <a:t>02 アセスメント</a:t>
            </a:r>
            <a:br/>
            <a:r>
              <a:t>（課題/状態/希望の整理）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1828800" cy="2011680"/>
          </a:xfrm>
          <a:prstGeom prst="rect">
            <a:avLst/>
          </a:prstGeom>
          <a:solidFill>
            <a:srgbClr val="1E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993392"/>
            <a:ext cx="1600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4FC"/>
                </a:solidFill>
                <a:latin typeface="Meiryo"/>
              </a:rPr>
              <a:t>03 導入期支援</a:t>
            </a:r>
            <a:br/>
            <a:r>
              <a:t>（入寮/通所・生活再建）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1828800" cy="2011680"/>
          </a:xfrm>
          <a:prstGeom prst="rect">
            <a:avLst/>
          </a:prstGeom>
          <a:solidFill>
            <a:srgbClr val="1E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993392"/>
            <a:ext cx="1600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4FC"/>
                </a:solidFill>
                <a:latin typeface="Meiryo"/>
              </a:rPr>
              <a:t>04 回復プログラム</a:t>
            </a:r>
            <a:br/>
            <a:r>
              <a:t>（5ステージ制・個別支援）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75320" y="1828800"/>
            <a:ext cx="1828800" cy="2011680"/>
          </a:xfrm>
          <a:prstGeom prst="rect">
            <a:avLst/>
          </a:prstGeom>
          <a:solidFill>
            <a:srgbClr val="1E3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93392"/>
            <a:ext cx="1600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4FC"/>
                </a:solidFill>
                <a:latin typeface="Meiryo"/>
              </a:rPr>
              <a:t>05 社会復帰準備</a:t>
            </a:r>
            <a:br/>
            <a:r>
              <a:t>（就労支援・地域連携）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41280" y="1828800"/>
            <a:ext cx="1828800" cy="2011680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78440" y="1993392"/>
            <a:ext cx="16002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F4FC"/>
                </a:solidFill>
                <a:latin typeface="Meiryo"/>
              </a:rPr>
              <a:t>06 アフターケア</a:t>
            </a:r>
            <a:br/>
            <a:r>
              <a:t>（家族会・継続フォロー）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 b="0">
                <a:solidFill>
                  <a:srgbClr val="C6D8F3"/>
                </a:solidFill>
                <a:latin typeface="Meiryo"/>
              </a:rPr>
              <a:t>ポイント: 依存症を単発の治療で捉えず、再発予防・家族支援・就労支援まで連続的に設計する。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差別化要因: 8つの強み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公式「相模原ダルクの強み」ページを要約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10972800" cy="53035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20700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6EFDC"/>
                </a:solidFill>
                <a:latin typeface="Meiryo"/>
              </a:rPr>
              <a:t>8 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664208"/>
            <a:ext cx="106070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1) 10年超で延べ400名以上の回復支援実績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2) 最新プログラム + 24時間見守り + 5段階ステージ制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3) 定員約70名、関東圏最大規模クラスの設備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4) 当事者経験を持つスタッフによる伴走支援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5) 理事陣の専門性と安定運営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6) 他機関プログラムへの監修・協力実績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7) 地域活動・啓発・行政連携の継続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8) 開設当初からの家族支援（家族会・相談）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連携ネットワーク設計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医療・行政・司法・地域・家族をつなぐ支援基盤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3474720" cy="502920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2527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医療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709928"/>
            <a:ext cx="3108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依存症専門医療機関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精神科・心療内科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治療継続と再発予防連携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43000"/>
            <a:ext cx="3474720" cy="502920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2527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行政・司法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1709928"/>
            <a:ext cx="3108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保健所・精神保健福祉センター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保護観察所・矯正関連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地域支援事業との接続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143000"/>
            <a:ext cx="3474720" cy="502920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456" y="1252728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地域・家族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0456" y="1709928"/>
            <a:ext cx="3108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家族会・自助グループ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地域啓発イベント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卒業後フォローと居場所づくり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KPIダッシュボード（提案）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既存実績と運営指標を同時に可視化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5577840" cy="53035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07008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アウトカム指標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664208"/>
            <a:ext cx="521208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支援人数（累計/年度）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在寮中再使用率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卒業後継続率（6か月/12か月）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就労移行・定着率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家族会継続参加率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1097280"/>
            <a:ext cx="5074920" cy="53035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5976" y="1207008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運営指標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1664208"/>
            <a:ext cx="470916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初回相談件数と相談経路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待機期間・入寮稼働率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多機関連携件数（医療・行政・司法）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再相談率と緊急介入件数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支援満足度（本人/家族）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実行ロードマップ（提案）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支援品質向上・連携拡張・発信強化を同時推進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97280"/>
            <a:ext cx="3566160" cy="53035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0700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664208"/>
            <a:ext cx="3200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相談導線の標準化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初回面談テンプレート統一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KPI定義と記録整備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097280"/>
            <a:ext cx="3566160" cy="53035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120700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664208"/>
            <a:ext cx="3200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家族支援コンテンツ強化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連携機関との定例共有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卒業者フォローの拡張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566160" cy="53035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207008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76EFDC"/>
                </a:solidFill>
                <a:latin typeface="Meiryo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664208"/>
            <a:ext cx="320040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地域向け啓発の定期化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成果レポート公開</a:t>
            </a:r>
          </a:p>
          <a:p>
            <a:pPr algn="l"/>
            <a:r>
              <a:rPr sz="1600">
                <a:solidFill>
                  <a:srgbClr val="EEF2FA"/>
                </a:solidFill>
                <a:latin typeface="Meiryo"/>
              </a:rPr>
              <a:t>• 外部連携モデルの横展開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お問い合わせ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初回相談無料・秘密厳守（公式案内）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0972800" cy="438912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48132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6EFDC"/>
                </a:solidFill>
                <a:latin typeface="Meiryo"/>
              </a:rPr>
              <a:t>連絡先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1938528"/>
            <a:ext cx="1060704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solidFill>
                  <a:srgbClr val="EEF2FA"/>
                </a:solidFill>
                <a:latin typeface="Meiryo"/>
              </a:rPr>
              <a:t>• 一般社団法人 相模原ダルク</a:t>
            </a:r>
          </a:p>
          <a:p>
            <a:pPr algn="l"/>
            <a:r>
              <a:rPr sz="1800">
                <a:solidFill>
                  <a:srgbClr val="EEF2FA"/>
                </a:solidFill>
                <a:latin typeface="Meiryo"/>
              </a:rPr>
              <a:t>• 〒252-0237 神奈川県相模原市中央区千代田3-3-20</a:t>
            </a:r>
          </a:p>
          <a:p>
            <a:pPr algn="l"/>
            <a:r>
              <a:rPr sz="1800">
                <a:solidFill>
                  <a:srgbClr val="EEF2FA"/>
                </a:solidFill>
                <a:latin typeface="Meiryo"/>
              </a:rPr>
              <a:t>• TEL: 042-707-0391 / FAX: 042-707-0392</a:t>
            </a:r>
          </a:p>
          <a:p>
            <a:pPr algn="l"/>
            <a:r>
              <a:rPr sz="1800">
                <a:solidFill>
                  <a:srgbClr val="EEF2FA"/>
                </a:solidFill>
                <a:latin typeface="Meiryo"/>
              </a:rPr>
              <a:t>• 営業時間: 平日 9:00-17:00 / 土・祝 9:00-14:00（日曜休）</a:t>
            </a:r>
          </a:p>
          <a:p>
            <a:pPr algn="l"/>
            <a:r>
              <a:rPr sz="1800">
                <a:solidFill>
                  <a:srgbClr val="EEF2FA"/>
                </a:solidFill>
                <a:latin typeface="Meiryo"/>
              </a:rPr>
              <a:t>• 公式サイト: https://s-darc.com/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76EFDC"/>
                </a:solidFill>
                <a:latin typeface="Meiryo"/>
              </a:rPr>
              <a:t>CHANGE YOUR LIFE! 変われる。変われた仲間がいる。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出典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公式サイト・公的機関公開情報（2026年4月参照）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97280"/>
            <a:ext cx="10972800" cy="539496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207008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76EFDC"/>
                </a:solidFill>
                <a:latin typeface="Meiryo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664208"/>
            <a:ext cx="1060704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1. 相模原ダルク公式サイト: https://s-darc.com/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2. 施設情報: https://s-darc.com/facility/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3. 強み: https://s-darc.com/advantage/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4. 問い合わせ: https://s-darc.com/contact/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5. 警察庁 令和7年警察白書 第4節薬物銃器対策: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   https://www.npa.go.jp/hakusyo/r07/honbun/html/bb4441000.html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6. 厚生労働省 依存症対策: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   https://www.mhlw.go.jp/stf/seisakunitsuite/bunya/0000070789.html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7. 参考資料(提供ファイル):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   sagamihara_darc_presentation_2026_20260421013752.pdf</a:t>
            </a:r>
          </a:p>
          <a:p>
            <a:pPr algn="l"/>
            <a:r>
              <a:rPr sz="1400">
                <a:solidFill>
                  <a:srgbClr val="EEF2FA"/>
                </a:solidFill>
                <a:latin typeface="Meiryo"/>
              </a:rPr>
              <a:t>•    sagamihara_darc_presentation_2026_corporate_IR_redesign.pptx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"/>
            <a:ext cx="12191695" cy="6858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6888"/>
            <a:ext cx="74980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F0F4FC"/>
                </a:solidFill>
                <a:latin typeface="Meiryo"/>
              </a:rPr>
              <a:t>付録A: 提供資料の完全コピー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21207"/>
            <a:ext cx="9144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B1C3E1"/>
                </a:solidFill>
                <a:latin typeface="Meiryo"/>
              </a:rPr>
              <a:t>以下18ページは提供PDFを画像化して順番通りにそのまま収録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881360" cy="4206240"/>
          </a:xfrm>
          <a:prstGeom prst="rect">
            <a:avLst/>
          </a:prstGeom>
          <a:solidFill>
            <a:srgbClr val="13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664208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76EFDC"/>
                </a:solidFill>
                <a:latin typeface="Meiryo"/>
              </a:rPr>
              <a:t>Appendix Notes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" y="2121408"/>
            <a:ext cx="10515600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700">
                <a:solidFill>
                  <a:srgbClr val="EEF2FA"/>
                </a:solidFill>
                <a:latin typeface="Meiryo"/>
              </a:rPr>
              <a:t>• 元資料の記載内容・構成を保持するため、各ページを全面画像として収録</a:t>
            </a:r>
          </a:p>
          <a:p>
            <a:pPr algn="l"/>
            <a:r>
              <a:rPr sz="1700">
                <a:solidFill>
                  <a:srgbClr val="EEF2FA"/>
                </a:solidFill>
                <a:latin typeface="Meiryo"/>
              </a:rPr>
              <a:t>• 元資料: sagamihara_darc_presentation_2026_20260421013752.pdf (18ページ)</a:t>
            </a:r>
          </a:p>
          <a:p>
            <a:pPr algn="l"/>
            <a:r>
              <a:rPr sz="1700">
                <a:solidFill>
                  <a:srgbClr val="EEF2FA"/>
                </a:solidFill>
                <a:latin typeface="Meiryo"/>
              </a:rPr>
              <a:t>• この付録は『削除・改変なしで内容を残す』要件に対応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8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01968"/>
            <a:ext cx="6217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96A6C4"/>
                </a:solidFill>
                <a:latin typeface="Meiryo"/>
              </a:rPr>
              <a:t>SAGAMIHARA DARC | CORPORATE PRESENTATION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601968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6A6C4"/>
                </a:solidFill>
                <a:latin typeface="Meiry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_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