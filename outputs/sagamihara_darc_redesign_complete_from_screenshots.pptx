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183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4389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"/>
              </a:rPr>
              <a:t>相模原ダルク</a:t>
            </a:r>
            <a:br/>
            <a:r>
              <a:t>企業提案品質</a:t>
            </a:r>
            <a:br/>
            <a:r>
              <a:t>リデザイン資料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4480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8CCEB"/>
                </a:solidFill>
                <a:latin typeface="Meiryo"/>
              </a:rPr>
              <a:t>参考スクリーンショット（第1回分）の内容を</a:t>
            </a:r>
            <a:br/>
            <a:r>
              <a:t>省略せず再構築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914400"/>
            <a:ext cx="6035040" cy="5029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344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244A"/>
                </a:solidFill>
                <a:latin typeface="Meiryo"/>
              </a:rPr>
              <a:t>収録セクション（PAGE 2-9相当）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4864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本日のご説明内容（10テーマ）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日本の依存症情勢 2024-2025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3段階予防と相模原ダルクの役割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組織概要・理念（PHILOSOPHY / MISSION）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実績ハイライト（400+ / 5%以下 / 90%以上 / 70名程度）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1/3（実績・プログラム・24h・5ステージ）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2/3（設備・当事者スタッフ・理事・就労B型）</a:t>
            </a:r>
          </a:p>
          <a:p>
            <a:pPr algn="l"/>
            <a:r>
              <a:rPr sz="1400">
                <a:solidFill>
                  <a:srgbClr val="151F31"/>
                </a:solidFill>
                <a:latin typeface="Meiryo"/>
              </a:rPr>
              <a:t>• 強み 3/3（連携・地域参加・家族支援・相談窓口）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本日のご説明内容｜本日のテーマ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10テーマを企業説明向けに再整理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556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44A"/>
                </a:solidFill>
                <a:latin typeface="Meiryo"/>
              </a:rPr>
              <a:t>予定時間: 約60分 / テーマ数: 10 / 拠点数: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7657F"/>
                </a:solidFill>
                <a:latin typeface="Meiryo"/>
              </a:rPr>
              <a:t>01〜10 の全項目（原文趣旨）を維持し、理解導線を強化したレイアウトへ再設計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834640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" y="29077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83464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日本の依存症情勢（2024-2025）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04495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最新の薬物事犯統計と若年層の情勢分析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56432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547872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" y="36210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4787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予防の3段階と当施設の役割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75818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第一次〜第三次予防のフレームワークと実装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9664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261104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" y="433425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26110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組織概要・理念と実績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2014年設立、400名以上の支援実績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82896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974336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" y="50474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相模原ダルクの8つの強み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18464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回復支援の核となる競争優位性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596128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687568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" y="57607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6875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5ステージ制 回復プログラム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89788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段階的目標設定と役割付与による自立支援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743200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82512" y="2834640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6812" y="29077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283464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施設・サービスの全体像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04495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5つの拠点と支援機能のネットワーク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456432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3547872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6812" y="36210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354787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回復プログラム詳細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375818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デイ・ナイト・個別の包括的アプローチ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169664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82512" y="4261104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6812" y="433425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426110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依存症の理解（7つの特徴）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447141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科学的理解に基づく回復支援の前提条件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882896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82512" y="4974336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6812" y="50474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家族支援・連携ネットワーク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18464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CRAFTプログラムと地域連携体制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596128"/>
            <a:ext cx="521208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82512" y="5687568"/>
            <a:ext cx="502920" cy="420624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6812" y="57607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7728" y="56875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244A"/>
                </a:solidFill>
                <a:latin typeface="Meiryo"/>
              </a:rPr>
              <a:t>お問い合わせ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7728" y="589788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初回相談無料・秘密厳守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日本の依存症情勢 2024-2025 最新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警察庁白書情報を軸に、示唆まで明確化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39496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7657F"/>
                </a:solidFill>
                <a:latin typeface="Meiryo"/>
              </a:rPr>
              <a:t>2024年 薬物事犯検挙人員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10244A"/>
                </a:solidFill>
                <a:latin typeface="Meiryo"/>
              </a:rPr>
              <a:t>13,462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128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44A"/>
                </a:solidFill>
                <a:latin typeface="Meiryo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覚醒剤事犯 45.5% / 大麻事犯 45.1%</a:t>
            </a:r>
            <a:br/>
            <a:r>
              <a:t>引き続き高水準を維持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2120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注目トピック (2024-2025)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大麻取締法改正（2024年12月施行）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SNS売買の急増（特に若年層）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暴力団関与（覚醒剤密売の約50%）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09270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44A"/>
                </a:solidFill>
                <a:latin typeface="Meiryo"/>
              </a:rPr>
              <a:t>重要なポイント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2024年12月の法改正後、早期相談・再発予防・家族支援を横断した地域導線の再設計が必要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若年層へのSNS経由の接触を前提に、啓発だけでなく相談導線の見える化が重要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公的機関・医療・民間回復施設の連携を前提にした継続支援モデルが求められる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※ 2024年データは警察庁公式統計、2025年は速報値を含む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3段階予防と相模原ダルクの役割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第一次（啓発）/ 第二次（早期介入）/ 第三次（回復）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097280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17904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相模原ダルクは、予防から社会復帰まで切れ目ない支援を提供（支援実績 400+）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第一次予防（啓発）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講演・研修による乱用防止啓発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学校・地域での薬物乱用防止教育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エイサー演舞等の文化活動による啓発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ニュースレター発行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第二次予防（介入）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医療・行政・司法と連携した早期発見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KIPP / FLOW / TAMARPP 協力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個別相談・初期カウンセリング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家族支援プログラム / 再乱用防止指導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240280"/>
            <a:ext cx="342900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240280"/>
            <a:ext cx="3429000" cy="420624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432304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44A"/>
                </a:solidFill>
                <a:latin typeface="Meiryo"/>
              </a:rPr>
              <a:t>第三次予防（回復）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3017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入寮・通所による集中回復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5段階ステージ制・就労継続支援B型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24時間見守り / 医療・行政・司法連携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アフターケア / 家族支援 / 社会復帰支援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組織概要・理念｜PHILOSOPHY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人としての尊厳を大切に、生き直す力を支える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3383280" cy="5394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組織情報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28346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法人名: 一般社団法人 相模原ダルク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設立日: 2014年3月3日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代表理事: 田中 秀泰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所在地: 神奈川県相模原市</a:t>
            </a:r>
          </a:p>
          <a:p>
            <a:pPr algn="l"/>
            <a:r>
              <a:rPr sz="1200">
                <a:solidFill>
                  <a:srgbClr val="151F31"/>
                </a:solidFill>
                <a:latin typeface="Meiryo"/>
              </a:rPr>
              <a:t>• 支援実績: 延べ400名以上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736092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PHILOSOPHY｜理念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「人としての尊厳を大切に、生き直す力を支える」</a:t>
            </a:r>
            <a:br/>
            <a:r>
              <a:t>一人ひとりを尊重し、安心して自分を表現できる共同の場をつくる。</a:t>
            </a:r>
            <a:br/>
            <a:r>
              <a:t>誠実な関わりと対話を通じ、本来持つ力を呼び起こし育てる。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4297680"/>
            <a:ext cx="736092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57200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244A"/>
                </a:solidFill>
                <a:latin typeface="Meiryo"/>
              </a:rPr>
              <a:t>MISSION｜使命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9204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51F31"/>
                </a:solidFill>
                <a:latin typeface="Meiryo"/>
              </a:rPr>
              <a:t>「生き直す力で依存症からの回復を」</a:t>
            </a:r>
            <a:br/>
            <a:r>
              <a:t>回復は恐れや圧力では育たない。安心できる環境と誠実な関わりの中で育つ。</a:t>
            </a:r>
            <a:br/>
            <a:r>
              <a:t>施設・地域・社会の中に回復の共同体を作り続ける。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実績ハイライト｜データで見る相模原ダルク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数値は2026年時点（自施設集計）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097280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244A"/>
                </a:solidFill>
                <a:latin typeface="Meiryo"/>
              </a:rPr>
              <a:t>400名以上の支援実績 / 5%以下の再使用率 / 90%以上の卒業後継続率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400+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回復支援実績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創設以来の延べ支援人数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5%以下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入所中の再使用率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24時間見守り・プログラム実装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90%以上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卒業後の継続率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ピア支援・アフターケア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743200"/>
            <a:ext cx="260604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17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0244A"/>
                </a:solidFill>
                <a:latin typeface="Meiryo"/>
              </a:rPr>
              <a:t>70名程度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657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51F31"/>
                </a:solidFill>
                <a:latin typeface="Meiryo"/>
              </a:rPr>
              <a:t>受け入れ体制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977639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大型寮5 + 個室寮9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7657F"/>
                </a:solidFill>
                <a:latin typeface="Meiryo"/>
              </a:rPr>
              <a:t>※ 再使用率は入所中当事者を対象とした2026年1月時点調査（n=70）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相模原ダルクの強み（1/3）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驚異的実績 / 最新プログラム / 24時間見守り / 5段階ステージ制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驚異的な実績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延べ400名以上の支援実績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在寮中再使用率5%以下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卒業後継続率90%以上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定員70名規模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最新プログラム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MATRIX/CBTベースの再発予防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12ステップ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個別カウンセリング統合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毎年アップデート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24時間見守り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寮にスタッフ常駐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随時相談可能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初期再使用リスク低減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生活リズム確立支援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4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5段階ステージ制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Stage1〜5で可視化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目標・課題を明確化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権利と責任の段階拡大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段階的自立を促進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相模原ダルクの強み（2/3）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設備規模 / 当事者スタッフ / 理事専門性 / 就労継続支援B型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関東圏最大規模の設備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定員70名体制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24時間体制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大型寮5 + 個室寮9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送迎支援あり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当事者スタッフ多数在籍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経験者だからできる寄り添い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寮に24時間常駐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躓きやすい時期への助言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ピア支援の実装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経験豊富な理事陣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各分野のエキスパートが牽引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医療・福祉・司法と連携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開設10年以上の安定運営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組織全体で回復へコミット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就労継続支援B型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無理のない就労訓練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治療継続と両立可能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一般就労へのステップ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自立に向けた現実的支援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82296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相模原ダルクの強み（3/3）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6EE"/>
                </a:solidFill>
                <a:latin typeface="Meiryo"/>
              </a:rPr>
              <a:t>医療・行政・司法連携 / 地域参加 / 家族支援 / 相談窓口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7657F"/>
                </a:solidFill>
                <a:latin typeface="Meiryo"/>
              </a:rPr>
              <a:t>SAGAMIHARA DARC | STRATEGIC REDESIGN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医療・行政・司法連携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KIPP/FLOW/TAMARPP 協力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保護観察所の再乱用防止プログラム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刑務所・少年院での離脱指導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現場で実装できる協働体制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地域社会への参加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92808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琉球太鼓エイサー演舞参加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清掃ボランティア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学校・地域での講演活動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共生を育む継続活動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家族支援を継続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毎週の家族相談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月1回の家族会（学習+MTG）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CRAFT的関わりの実践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家族も回復のパートナー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440680" cy="320040"/>
          </a:xfrm>
          <a:prstGeom prst="rect">
            <a:avLst/>
          </a:prstGeom>
          <a:solidFill>
            <a:srgbClr val="10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相談窓口を常設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7"/>
            <a:ext cx="49834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初回相談無料・秘密厳守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本人・家族・周囲どなたでも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平日 9:00-17:00</a:t>
            </a:r>
          </a:p>
          <a:p>
            <a:pPr algn="l"/>
            <a:r>
              <a:rPr sz="1100">
                <a:solidFill>
                  <a:srgbClr val="151F31"/>
                </a:solidFill>
                <a:latin typeface="Meiryo"/>
              </a:rPr>
              <a:t>• 土祝 9:00-14:00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5ステージ制 回復プログラム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MEMBERからMANAGERまで段階的に自立を実装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325880"/>
            <a:ext cx="2286000" cy="384048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導入期 1-3ヶ月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離脱症状安定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24h見守り・服薬管理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NA/AA・スポーツ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安定と適応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2928" y="1325880"/>
            <a:ext cx="2286000" cy="384048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基礎期 4-6ヶ月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認知変容と役割理解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SMARPP全24回（CBT）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施設内係活動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認知療法修了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30368" y="1325880"/>
            <a:ext cx="2286000" cy="384048"/>
          </a:xfrm>
          <a:prstGeom prst="rect">
            <a:avLst/>
          </a:prstGeom>
          <a:solidFill>
            <a:srgbClr val="32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009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TRAINEE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成長期 7-12ヶ月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リーダーシップ発揮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新入寮者サポート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WRAP実践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関係修復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07808" y="1325880"/>
            <a:ext cx="2286000" cy="384048"/>
          </a:xfrm>
          <a:prstGeom prst="rect">
            <a:avLst/>
          </a:prstGeom>
          <a:solidFill>
            <a:srgbClr val="8A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753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CHIEF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準備期 13-18ヶ月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就労先確保・通勤準備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単独外出の拡大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B型訓練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582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就労内定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5248" y="1325880"/>
            <a:ext cx="22860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85248" y="1325880"/>
            <a:ext cx="2286000" cy="384048"/>
          </a:xfrm>
          <a:prstGeom prst="rect">
            <a:avLst/>
          </a:prstGeom>
          <a:solidFill>
            <a:srgbClr val="E45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4976" y="1399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"/>
              </a:rPr>
              <a:t>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4976" y="181051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2607C"/>
                </a:solidFill>
                <a:latin typeface="Meiryo"/>
              </a:rPr>
              <a:t>自立期 18ヶ月〜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4" y="2103120"/>
            <a:ext cx="1965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外部就労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一人暮らし開始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金銭・服薬自己管理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13264" y="429768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2142"/>
                </a:solidFill>
                <a:latin typeface="Meiryo"/>
              </a:rPr>
              <a:t>達成基準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3264" y="45262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2607C"/>
                </a:solidFill>
                <a:latin typeface="Meiryo"/>
              </a:rPr>
              <a:t>経済的自立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1024128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D70FF"/>
                </a:solidFill>
                <a:latin typeface="Meiryo"/>
              </a:rPr>
              <a:t>標準期間: 18ヶ月〜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相模原ダルクグループ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通所2拠点・入寮6拠点の包括ネットワーク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11556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447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全8施設が連携し、状態に応じた切れ目ない回復支援を提供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48840"/>
            <a:ext cx="54864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042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D70FF"/>
                </a:solidFill>
                <a:latin typeface="Meiryo"/>
              </a:rPr>
              <a:t>通所（2拠点）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78608"/>
            <a:ext cx="51206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相模原ダルク デイケアセンター: 各依存別プログラム / 相談受付・家族会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相模原ダルク OTC: 就労継続支援B型 / 弁当惣菜・野菜づくり / 一般就労準備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2148840"/>
            <a:ext cx="5486400" cy="4133087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3042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0B8B3"/>
                </a:solidFill>
                <a:latin typeface="Meiryo"/>
              </a:rPr>
              <a:t>入寮（6拠点）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4224" y="2596896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688336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大和PCC（初期）: 定員25名・断薬断酒特化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596896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688336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町田RC（中期）: 欲求・身体症状が落ち着いた方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4" y="3712464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803904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愛川TC（中期）: バリアフリー完備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3712464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3803904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上溝HRC（中期）: 心の癒しに特化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4828032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919472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相模原WPH（自立）: 個室9室・就労準備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4828032"/>
            <a:ext cx="2487168" cy="914400"/>
          </a:xfrm>
          <a:prstGeom prst="rect">
            <a:avLst/>
          </a:prstGeom>
          <a:solidFill>
            <a:srgbClr val="F7FA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4919472"/>
            <a:ext cx="230428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61E2F"/>
                </a:solidFill>
                <a:latin typeface="Meiryo"/>
              </a:rPr>
              <a:t>西門ACC（卒業後）: 仲間と暮らし自立を目指す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回復プログラム（デイ・ナイト・個別）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集団・生活・個別支援を統合する3プログラム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3611880" cy="420624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デイケア（通所）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ミーティング（言いっぱなし・聞きっぱなし）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12ステップ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SAGARPP（再発予防/CBT）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ワークショップ・アート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スポーツ＆プレジャー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平日 9:00-17:00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417320"/>
            <a:ext cx="3611880" cy="420624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ナイトケア（寮）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睡眠・食事改善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集団生活での関係構築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料理・洗濯の練習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金銭・服薬管理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24時間体制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生活基盤の再構築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9328" y="1417320"/>
            <a:ext cx="3611880" cy="4773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417320"/>
            <a:ext cx="3611880" cy="420624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53619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個別サポート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938528"/>
            <a:ext cx="32918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個別カウンセリング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セルフケア指導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就労トレーニング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継続的状態管理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随時対応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状態に合わせた継続支援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依存症の理解（7つの特徴）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科学的理解に基づく回復支援の前提条件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1106424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2142"/>
                </a:solidFill>
                <a:latin typeface="Meiryo"/>
              </a:rPr>
              <a:t>「意志の弱さ」ではなく「治療が必要な病気」として理解する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4825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1284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1. 一次性の病気（原因は薬物使用そのもの）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204825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2. 慢性の病気（生涯ケアが必要）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4553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3. 進行性の病気（使用継続で喪失拡大）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14553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1012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4. 死亡率が高い（事故・自殺・ODリスク）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24281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5. 性格が変化する（回復で本来性を回復）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424281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0740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6. 依存対象が移行（交差依存）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340096"/>
            <a:ext cx="5504688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04688"/>
            <a:ext cx="5166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7. 人を巻き込む病気（家族支援が鍵）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交差依存（クロスアディクション）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本命停止後に別依存へ移行しスリップへ戻る悪循環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335024"/>
            <a:ext cx="722376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54480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悪循環の5ステップ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74519"/>
            <a:ext cx="67665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1) 本命の依存をやめる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2) 苦しみが増える（不安・渇望）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3) 他の依存へ移行（処方薬・ギャンブル等）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4) 問題解決できない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5) 本命へ戻る（スリップ）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526280"/>
            <a:ext cx="6766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D70FF"/>
                </a:solidFill>
                <a:latin typeface="Meiryo"/>
              </a:rPr>
              <a:t>予防策: 早期介入 / 包括的再発予防 / ピア支援・12ステップ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1335024"/>
            <a:ext cx="347472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依存タイプ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物質依存: アルコール / 薬物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プロセス依存: ギャンブル / 買い物 / ネット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関係依存: 共依存 / 性依存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対応: 包括的再発予防 + 家族支援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長期離脱症状（PAWS）の理解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12-24ヶ月寛解期における6症状と対処ポイント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110642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81328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2142"/>
                </a:solidFill>
                <a:latin typeface="Meiryo"/>
              </a:rPr>
              <a:t>ピーク 3-6ヶ月 / 寛解 12-24ヶ月 / 波を繰り返しながら徐々に回復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7627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5915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① 睡眠障害（不眠・過眠・早朝覚醒）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217627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5915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② ストレス過敏（音・視線・人混み）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59359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③ 記憶障害（短期記憶の低下）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41071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59359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④ 感情障害（怒り・無感情・不安定）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64515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2803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⑤ 身体バランス不調（疲労・めまい・頭痛）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4645152"/>
            <a:ext cx="550468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828032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61E2F"/>
                </a:solidFill>
                <a:latin typeface="Meiryo"/>
              </a:rPr>
              <a:t>⑥ 思考障害（焦り・固執・集中力低下）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6163056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93C32"/>
                </a:solidFill>
                <a:latin typeface="Meiryo"/>
              </a:rPr>
              <a:t>重要: スリップリスクが高まる時期は一人で抱え込まずチームで対応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家族支援プログラム（CRAFT / 家族会）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家族は回復の重要パートナー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7498079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90472"/>
            <a:ext cx="7040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CRAFT 5ステップ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83080"/>
            <a:ext cx="7040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1. 理解・学ぶ（依存症理解とCRAFT基礎）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2. 相談・家族会（毎週相談 / 月1家族会）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3. 関わりを整える（肯定的対話 / 境界線設定）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4. パターンを断つ（共依存・イネイブリング脱却）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5. 継続と強化（回復行動を支える仕組み）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98448"/>
            <a:ext cx="3456432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90472"/>
            <a:ext cx="2971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2142"/>
                </a:solidFill>
                <a:latin typeface="Meiryo"/>
              </a:rPr>
              <a:t>援助の質を高める5点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30175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原因探しをしない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責めない・なじらない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あなたは一人じゃない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タイミングがすべて</a:t>
            </a:r>
          </a:p>
          <a:p>
            <a:pPr/>
            <a:r>
              <a:rPr sz="1000">
                <a:solidFill>
                  <a:srgbClr val="161E2F"/>
                </a:solidFill>
                <a:latin typeface="Meiryo"/>
              </a:rPr>
              <a:t>• イネイブリングを避ける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連携機関とネットワーク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医療・行政・司法・地域と接続し予防から社会復帰まで実装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389888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389888"/>
            <a:ext cx="5504688" cy="329184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医療（MEDICAL）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828800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北里大学病院（KIPP）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高尾駒木野病院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相模湖病院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1389888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389888"/>
            <a:ext cx="5504688" cy="329184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行政（PUBLIC）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28800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相模原市精神保健福祉センター（FLOW）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東京多摩総合精神保健福祉センター（TAMARPP）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831335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31335"/>
            <a:ext cx="5504688" cy="329184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司法（JUSTICE）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70247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横浜保護観察所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府中刑務所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八街少年院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3831335"/>
            <a:ext cx="5504688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3831335"/>
            <a:ext cx="5504688" cy="329184"/>
          </a:xfrm>
          <a:prstGeom prst="rect">
            <a:avLst/>
          </a:prstGeom>
          <a:solidFill>
            <a:srgbClr val="7B5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04487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地域（COMMUNITY）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270247"/>
            <a:ext cx="512064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地域行政（福祉課・保健所）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専門病院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学校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企業（就労連携）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841248"/>
          </a:xfrm>
          <a:prstGeom prst="rect">
            <a:avLst/>
          </a:prstGeom>
          <a:solidFill>
            <a:srgbClr val="16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お問い合わせ｜CHANGE YOUR LIFE!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76656"/>
            <a:ext cx="996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6D7F2"/>
                </a:solidFill>
                <a:latin typeface="Meiryo"/>
              </a:rPr>
              <a:t>依存症からの回復を全力で支えます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eiryo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3854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2607C"/>
                </a:solidFill>
                <a:latin typeface="Meiryo"/>
              </a:rPr>
              <a:t>SAGAMIHARA DARC | STRATEGIC REDESIGN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325880"/>
            <a:ext cx="111556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2142"/>
                </a:solidFill>
                <a:latin typeface="Meiryo"/>
              </a:rPr>
              <a:t>CHANGE YOUR LIFE!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2607C"/>
                </a:solidFill>
                <a:latin typeface="Meiryo"/>
              </a:rPr>
              <a:t>変われる。変われた仲間がいる。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834640"/>
            <a:ext cx="3584448" cy="384048"/>
          </a:xfrm>
          <a:prstGeom prst="rect">
            <a:avLst/>
          </a:prstGeom>
          <a:solidFill>
            <a:srgbClr val="2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電話でのご相談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042-707-0391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平日 9:00-17:00 / 土祝〜14:00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2834640"/>
            <a:ext cx="3584448" cy="384048"/>
          </a:xfrm>
          <a:prstGeom prst="rect">
            <a:avLst/>
          </a:prstGeom>
          <a:solidFill>
            <a:srgbClr val="00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お問い合わせフォーム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https://s-darc.com/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24時間受付可能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2834640"/>
            <a:ext cx="3584448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2752" y="2834640"/>
            <a:ext cx="3584448" cy="384048"/>
          </a:xfrm>
          <a:prstGeom prst="rect">
            <a:avLst/>
          </a:prstGeom>
          <a:solidFill>
            <a:srgbClr val="FF9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所在地 / 運営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310128"/>
            <a:ext cx="3200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〒252-0237 相模原市中央区千代田3-3-20</a:t>
            </a:r>
          </a:p>
          <a:p>
            <a:pPr/>
            <a:r>
              <a:rPr sz="1100">
                <a:solidFill>
                  <a:srgbClr val="161E2F"/>
                </a:solidFill>
                <a:latin typeface="Meiryo"/>
              </a:rPr>
              <a:t>• 一般社団法人 相模原ダルク / 代表理事 田中秀泰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