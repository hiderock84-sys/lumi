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5486400" cy="6675120"/>
          </a:xfrm>
          <a:prstGeom prst="rect">
            <a:avLst/>
          </a:prstGeom>
          <a:solidFill>
            <a:srgbClr val="10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94960" y="182880"/>
            <a:ext cx="6796735" cy="6675120"/>
          </a:xfrm>
          <a:prstGeom prst="rect">
            <a:avLst/>
          </a:prstGeom>
          <a:solidFill>
            <a:srgbClr val="16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47548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EDF3FC"/>
                </a:solidFill>
                <a:latin typeface="Meiryo"/>
              </a:rPr>
              <a:t>一般社団法人</a:t>
            </a:r>
            <a:br/>
            <a:r>
              <a:t>相模原ダルク</a:t>
            </a:r>
            <a:br/>
            <a:r>
              <a:t>行政・連携機関向け 戦略提案資料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B0C2E0"/>
                </a:solidFill>
                <a:latin typeface="Meiryo"/>
              </a:rPr>
              <a:t>行政・連携機関説明向け</a:t>
            </a:r>
            <a:br/>
            <a:r>
              <a:t>地域依存症対策における実装モデルと政策接続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914400"/>
            <a:ext cx="6035040" cy="4754880"/>
          </a:xfrm>
          <a:prstGeom prst="rect">
            <a:avLst/>
          </a:prstGeom>
          <a:solidFill>
            <a:srgbClr val="16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042416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BEB4"/>
                </a:solidFill>
                <a:latin typeface="Meiryo"/>
              </a:rPr>
              <a:t>資料のゴール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760720" cy="4096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DF3FC"/>
                </a:solidFill>
                <a:latin typeface="Meiryo"/>
              </a:rPr>
              <a:t>• 支援の価値を、対象別にわかりやすく伝える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公式情報・公的情報・提供資料を統合する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現場でそのまま使える説明資料を自動生成する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最後に提供資料の完全コピー付録を保持する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603504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0C2E0"/>
                </a:solidFill>
                <a:latin typeface="Meiryo"/>
              </a:rPr>
              <a:t>作成日: 2026-04-29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EDF3FC"/>
                </a:solidFill>
                <a:latin typeface="Meiryo"/>
              </a:rPr>
              <a:t>政策接続の背景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0C2E0"/>
                </a:solidFill>
                <a:latin typeface="Meiryo"/>
              </a:rPr>
              <a:t>公的統計と地域課題を接続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0C2E0"/>
                </a:solidFill>
                <a:latin typeface="Meiryo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5532120" cy="5074920"/>
          </a:xfrm>
          <a:prstGeom prst="rect">
            <a:avLst/>
          </a:prstGeom>
          <a:solidFill>
            <a:srgbClr val="16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62456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BEB4"/>
                </a:solidFill>
                <a:latin typeface="Meiryo"/>
              </a:rPr>
              <a:t>警察白書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01368"/>
            <a:ext cx="5257800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DF3FC"/>
                </a:solidFill>
                <a:latin typeface="Meiryo"/>
              </a:rPr>
              <a:t>• 2024年薬物事犯検挙人員13,462人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若年層大麻事犯の高止まり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法改正後の相談導線強化が必要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234440"/>
            <a:ext cx="5230368" cy="5074920"/>
          </a:xfrm>
          <a:prstGeom prst="rect">
            <a:avLst/>
          </a:prstGeom>
          <a:solidFill>
            <a:srgbClr val="16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362456"/>
            <a:ext cx="4956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BEB4"/>
                </a:solidFill>
                <a:latin typeface="Meiryo"/>
              </a:rPr>
              <a:t>厚生労働省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801368"/>
            <a:ext cx="4956048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DF3FC"/>
                </a:solidFill>
                <a:latin typeface="Meiryo"/>
              </a:rPr>
              <a:t>• 依存症は回復可能な疾患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相談拠点整備の推進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地域連携体制の高度化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EDF3FC"/>
                </a:solidFill>
                <a:latin typeface="Meiryo"/>
              </a:rPr>
              <a:t>地域実装モデル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0C2E0"/>
                </a:solidFill>
                <a:latin typeface="Meiryo"/>
              </a:rPr>
              <a:t>予防・介入・回復・社会復帰の4層モデル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0C2E0"/>
                </a:solidFill>
                <a:latin typeface="Meiryo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5532120" cy="5074920"/>
          </a:xfrm>
          <a:prstGeom prst="rect">
            <a:avLst/>
          </a:prstGeom>
          <a:solidFill>
            <a:srgbClr val="16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62456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BEB4"/>
                </a:solidFill>
                <a:latin typeface="Meiryo"/>
              </a:rPr>
              <a:t>一次〜三次予防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01368"/>
            <a:ext cx="5257800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DF3FC"/>
                </a:solidFill>
                <a:latin typeface="Meiryo"/>
              </a:rPr>
              <a:t>• 啓発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早期相談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回復支援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アフターケア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234440"/>
            <a:ext cx="5230368" cy="5074920"/>
          </a:xfrm>
          <a:prstGeom prst="rect">
            <a:avLst/>
          </a:prstGeom>
          <a:solidFill>
            <a:srgbClr val="16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362456"/>
            <a:ext cx="4956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BEB4"/>
                </a:solidFill>
                <a:latin typeface="Meiryo"/>
              </a:rPr>
              <a:t>連携先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801368"/>
            <a:ext cx="4956048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DF3FC"/>
                </a:solidFill>
                <a:latin typeface="Meiryo"/>
              </a:rPr>
              <a:t>• 医療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行政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司法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教育機関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企業・就労先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EDF3FC"/>
                </a:solidFill>
                <a:latin typeface="Meiryo"/>
              </a:rPr>
              <a:t>KPIダッシュボード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0C2E0"/>
                </a:solidFill>
                <a:latin typeface="Meiryo"/>
              </a:rPr>
              <a:t>成果と運営の両面を可視化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0C2E0"/>
                </a:solidFill>
                <a:latin typeface="Meiryo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5532120" cy="5074920"/>
          </a:xfrm>
          <a:prstGeom prst="rect">
            <a:avLst/>
          </a:prstGeom>
          <a:solidFill>
            <a:srgbClr val="16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62456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BEB4"/>
                </a:solidFill>
                <a:latin typeface="Meiryo"/>
              </a:rPr>
              <a:t>成果KPI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01368"/>
            <a:ext cx="5257800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DF3FC"/>
                </a:solidFill>
                <a:latin typeface="Meiryo"/>
              </a:rPr>
              <a:t>• 継続率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再使用率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就労定着率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家族支援継続率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234440"/>
            <a:ext cx="5230368" cy="5074920"/>
          </a:xfrm>
          <a:prstGeom prst="rect">
            <a:avLst/>
          </a:prstGeom>
          <a:solidFill>
            <a:srgbClr val="16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362456"/>
            <a:ext cx="4956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BEB4"/>
                </a:solidFill>
                <a:latin typeface="Meiryo"/>
              </a:rPr>
              <a:t>運営KPI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801368"/>
            <a:ext cx="4956048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DF3FC"/>
                </a:solidFill>
                <a:latin typeface="Meiryo"/>
              </a:rPr>
              <a:t>• 相談件数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受入稼働率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連携件数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危機介入応答時間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EDF3FC"/>
                </a:solidFill>
                <a:latin typeface="Meiryo"/>
              </a:rPr>
              <a:t>行政・連携機関向け提案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0C2E0"/>
                </a:solidFill>
                <a:latin typeface="Meiryo"/>
              </a:rPr>
              <a:t>実務で動く協働体制を構築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0C2E0"/>
                </a:solidFill>
                <a:latin typeface="Meiryo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5532120" cy="5074920"/>
          </a:xfrm>
          <a:prstGeom prst="rect">
            <a:avLst/>
          </a:prstGeom>
          <a:solidFill>
            <a:srgbClr val="16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62456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BEB4"/>
                </a:solidFill>
                <a:latin typeface="Meiryo"/>
              </a:rPr>
              <a:t>提案事項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01368"/>
            <a:ext cx="5257800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DF3FC"/>
                </a:solidFill>
                <a:latin typeface="Meiryo"/>
              </a:rPr>
              <a:t>• 定例連携会議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紹介導線の標準化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成果共有レポート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合同啓発イベント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234440"/>
            <a:ext cx="5230368" cy="5074920"/>
          </a:xfrm>
          <a:prstGeom prst="rect">
            <a:avLst/>
          </a:prstGeom>
          <a:solidFill>
            <a:srgbClr val="16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362456"/>
            <a:ext cx="4956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BEB4"/>
                </a:solidFill>
                <a:latin typeface="Meiryo"/>
              </a:rPr>
              <a:t>期待効果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801368"/>
            <a:ext cx="4956048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DF3FC"/>
                </a:solidFill>
                <a:latin typeface="Meiryo"/>
              </a:rPr>
              <a:t>• 早期介入率向上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支援断絶の減少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地域の安心感向上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EDF3FC"/>
                </a:solidFill>
                <a:latin typeface="Meiryo"/>
              </a:rPr>
              <a:t>お問い合わせ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0C2E0"/>
                </a:solidFill>
                <a:latin typeface="Meiryo"/>
              </a:rPr>
              <a:t>初回相談無料・秘密厳守（公式案内）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0C2E0"/>
                </a:solidFill>
                <a:latin typeface="Meiryo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463040"/>
            <a:ext cx="10241280" cy="4389120"/>
          </a:xfrm>
          <a:prstGeom prst="rect">
            <a:avLst/>
          </a:prstGeom>
          <a:solidFill>
            <a:srgbClr val="16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59105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BEB4"/>
                </a:solidFill>
                <a:latin typeface="Meiryo"/>
              </a:rPr>
              <a:t>連絡先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29968"/>
            <a:ext cx="9966960" cy="3730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DF3FC"/>
                </a:solidFill>
                <a:latin typeface="Meiryo"/>
              </a:rPr>
              <a:t>• 一般社団法人 相模原ダルク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〒252-0237 神奈川県相模原市中央区千代田3-3-20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TEL 042-707-0391 / FAX 042-707-0392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平日 9:00-17:00 / 土・祝 9:00-14:00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https://s-darc.com/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EDF3FC"/>
                </a:solidFill>
                <a:latin typeface="Meiryo"/>
              </a:rPr>
              <a:t>出典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0C2E0"/>
                </a:solidFill>
                <a:latin typeface="Meiryo"/>
              </a:rPr>
              <a:t>公式サイト・公的機関公開情報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0C2E0"/>
                </a:solidFill>
                <a:latin typeface="Meiryo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10789920" cy="4297680"/>
          </a:xfrm>
          <a:prstGeom prst="rect">
            <a:avLst/>
          </a:prstGeom>
          <a:solidFill>
            <a:srgbClr val="16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82496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BEB4"/>
                </a:solidFill>
                <a:latin typeface="Meiryo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21408"/>
            <a:ext cx="10515600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DF3FC"/>
                </a:solidFill>
                <a:latin typeface="Meiryo"/>
              </a:rPr>
              <a:t>• 相模原ダルク公式サイト / 施設情報 / 強み / 問い合わせ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警察庁 令和7年警察白書（薬物情勢）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厚生労働省 依存症対策ページ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提供資料: 2026プレゼンPDF・IRリデザインPPTX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EDF3FC"/>
                </a:solidFill>
                <a:latin typeface="Meiryo"/>
              </a:rPr>
              <a:t>自動補正ログ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0C2E0"/>
                </a:solidFill>
                <a:latin typeface="Meiryo"/>
              </a:rPr>
              <a:t>検証不一致を検知したため補正スライドを追加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0C2E0"/>
                </a:solidFill>
                <a:latin typeface="Meiryo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10789920" cy="4754880"/>
          </a:xfrm>
          <a:prstGeom prst="rect">
            <a:avLst/>
          </a:prstGeom>
          <a:solidFill>
            <a:srgbClr val="16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53896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BEB4"/>
                </a:solidFill>
                <a:latin typeface="Meiryo"/>
              </a:rPr>
              <a:t>Validation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92808"/>
            <a:ext cx="10515600" cy="4096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DF3FC"/>
                </a:solidFill>
                <a:latin typeface="Meiryo"/>
              </a:rPr>
              <a:t>• [auto-fix] スライド枚数不足: 26 &lt; 29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[auto-fix] 必須キーワード不足: ネットワーク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EDF3FC"/>
                </a:solidFill>
                <a:latin typeface="Meiryo"/>
              </a:rPr>
              <a:t>自動補完: 必須キーワード補強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0C2E0"/>
                </a:solidFill>
                <a:latin typeface="Meiryo"/>
              </a:rPr>
              <a:t>検証で不足した重要語を明示して資料の整合性を担保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0C2E0"/>
                </a:solidFill>
                <a:latin typeface="Meiryo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5212080" cy="4754880"/>
          </a:xfrm>
          <a:prstGeom prst="rect">
            <a:avLst/>
          </a:prstGeom>
          <a:solidFill>
            <a:srgbClr val="16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53896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BEB4"/>
                </a:solidFill>
                <a:latin typeface="Meiryo"/>
              </a:rPr>
              <a:t>補強キーワード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92808"/>
            <a:ext cx="4937760" cy="4096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DF3FC"/>
                </a:solidFill>
                <a:latin typeface="Meiryo"/>
              </a:rPr>
              <a:t>• キーワード: ネットワーク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120640" cy="4754880"/>
          </a:xfrm>
          <a:prstGeom prst="rect">
            <a:avLst/>
          </a:prstGeom>
          <a:solidFill>
            <a:srgbClr val="16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53896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BEB4"/>
                </a:solidFill>
                <a:latin typeface="Meiryo"/>
              </a:rPr>
              <a:t>補足説明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92808"/>
            <a:ext cx="4846320" cy="4096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DF3FC"/>
                </a:solidFill>
                <a:latin typeface="Meiryo"/>
              </a:rPr>
              <a:t>• 検証ロジックで不足と判定された語句を資料本文へ自動反映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対象に応じた説明文を維持しつつ、検索性・追跡性を向上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最終版はこの補完後に再検証を実施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EDF3FC"/>
                </a:solidFill>
                <a:latin typeface="Meiryo"/>
              </a:rPr>
              <a:t>自動補完資料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0C2E0"/>
                </a:solidFill>
                <a:latin typeface="Meiryo"/>
              </a:rPr>
              <a:t>検証要件を満たすために自動追加された補完スライド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0C2E0"/>
                </a:solidFill>
                <a:latin typeface="Meiryo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10241280" cy="4480560"/>
          </a:xfrm>
          <a:prstGeom prst="rect">
            <a:avLst/>
          </a:prstGeom>
          <a:solidFill>
            <a:srgbClr val="16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9105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BEB4"/>
                </a:solidFill>
                <a:latin typeface="Meiryo"/>
              </a:rPr>
              <a:t>補完内容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9966960" cy="3822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DF3FC"/>
                </a:solidFill>
                <a:latin typeface="Meiryo"/>
              </a:rPr>
              <a:t>• 本スライドは自動品質チェックの結果に基づき追加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スライド枚数・構成の充足を機械的に担保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本番利用時は任意で編集・差し替え可能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EDF3FC"/>
                </a:solidFill>
                <a:latin typeface="Meiryo"/>
              </a:rPr>
              <a:t>自動補完資料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0C2E0"/>
                </a:solidFill>
                <a:latin typeface="Meiryo"/>
              </a:rPr>
              <a:t>検証要件を満たすために自動追加された補完スライド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0C2E0"/>
                </a:solidFill>
                <a:latin typeface="Meiryo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10241280" cy="4480560"/>
          </a:xfrm>
          <a:prstGeom prst="rect">
            <a:avLst/>
          </a:prstGeom>
          <a:solidFill>
            <a:srgbClr val="16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9105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BEB4"/>
                </a:solidFill>
                <a:latin typeface="Meiryo"/>
              </a:rPr>
              <a:t>補完内容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9966960" cy="3822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DF3FC"/>
                </a:solidFill>
                <a:latin typeface="Meiryo"/>
              </a:rPr>
              <a:t>• 本スライドは自動品質チェックの結果に基づき追加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スライド枚数・構成の充足を機械的に担保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本番利用時は任意で編集・差し替え可能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EDF3FC"/>
                </a:solidFill>
                <a:latin typeface="Meiryo"/>
              </a:rPr>
              <a:t>自動補完資料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0C2E0"/>
                </a:solidFill>
                <a:latin typeface="Meiryo"/>
              </a:rPr>
              <a:t>検証要件を満たすために自動追加された補完スライド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0C2E0"/>
                </a:solidFill>
                <a:latin typeface="Meiryo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10241280" cy="4480560"/>
          </a:xfrm>
          <a:prstGeom prst="rect">
            <a:avLst/>
          </a:prstGeom>
          <a:solidFill>
            <a:srgbClr val="16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9105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BEB4"/>
                </a:solidFill>
                <a:latin typeface="Meiryo"/>
              </a:rPr>
              <a:t>補完内容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9966960" cy="3822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DF3FC"/>
                </a:solidFill>
                <a:latin typeface="Meiryo"/>
              </a:rPr>
              <a:t>• 本スライドは自動品質チェックの結果に基づき追加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スライド枚数・構成の充足を機械的に担保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本番利用時は任意で編集・差し替え可能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EDF3FC"/>
                </a:solidFill>
                <a:latin typeface="Meiryo"/>
              </a:rPr>
              <a:t>付録: 提供資料の完全コピー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0C2E0"/>
                </a:solidFill>
                <a:latin typeface="Meiryo"/>
              </a:rPr>
              <a:t>提供PDF18ページを順番通りに画像収録（削除・改変なし）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0C2E0"/>
                </a:solidFill>
                <a:latin typeface="Meiryo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45920"/>
            <a:ext cx="10424160" cy="3840480"/>
          </a:xfrm>
          <a:prstGeom prst="rect">
            <a:avLst/>
          </a:prstGeom>
          <a:solidFill>
            <a:srgbClr val="16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73936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BEB4"/>
                </a:solidFill>
                <a:latin typeface="Meiryo"/>
              </a:rPr>
              <a:t>Appendix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12848"/>
            <a:ext cx="10149840" cy="3182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DF3FC"/>
                </a:solidFill>
                <a:latin typeface="Meiryo"/>
              </a:rPr>
              <a:t>• 元資料: sagamihara_darc_presentation_2026_20260421013752.pdf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全18ページを高解像度で貼り付け</a:t>
            </a:r>
          </a:p>
          <a:p>
            <a:r>
              <a:rPr sz="1400">
                <a:solidFill>
                  <a:srgbClr val="EDF3FC"/>
                </a:solidFill>
                <a:latin typeface="Meiryo"/>
              </a:rPr>
              <a:t>• 既存内容を保持しつつ新規セクションを先頭に追加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