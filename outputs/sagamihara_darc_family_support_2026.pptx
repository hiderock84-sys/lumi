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A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"/>
            <a:ext cx="5486400" cy="6675120"/>
          </a:xfrm>
          <a:prstGeom prst="rect">
            <a:avLst/>
          </a:prstGeom>
          <a:solidFill>
            <a:srgbClr val="2C5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94960" y="182880"/>
            <a:ext cx="6796735" cy="6675120"/>
          </a:xfrm>
          <a:prstGeom prst="rect">
            <a:avLst/>
          </a:prstGeom>
          <a:solidFill>
            <a:srgbClr val="E6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47548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2F7FF"/>
                </a:solidFill>
                <a:latin typeface="Meiryo"/>
              </a:rPr>
              <a:t>一般社団法人</a:t>
            </a:r>
            <a:br/>
            <a:r>
              <a:t>相模原ダルク</a:t>
            </a:r>
            <a:br/>
            <a:r>
              <a:t>家族会向け回復支援ガイド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5760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CADBF2"/>
                </a:solidFill>
                <a:latin typeface="Meiryo"/>
              </a:rPr>
              <a:t>家族会・当事者家族向け</a:t>
            </a:r>
            <a:br/>
            <a:r>
              <a:t>安心と再出発を支える、伴走型サポートの全体像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0" y="914400"/>
            <a:ext cx="6035040" cy="4754880"/>
          </a:xfrm>
          <a:prstGeom prst="rect">
            <a:avLst/>
          </a:prstGeom>
          <a:solidFill>
            <a:srgbClr val="E6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1042416"/>
            <a:ext cx="5760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AA9D"/>
                </a:solidFill>
                <a:latin typeface="Meiryo"/>
              </a:rPr>
              <a:t>資料のゴール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81328"/>
            <a:ext cx="5760720" cy="4096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61E2D"/>
                </a:solidFill>
                <a:latin typeface="Meiryo"/>
              </a:rPr>
              <a:t>• 支援の価値を、対象別にわかりやすく伝える</a:t>
            </a:r>
          </a:p>
          <a:p>
            <a:r>
              <a:rPr sz="1400">
                <a:solidFill>
                  <a:srgbClr val="161E2D"/>
                </a:solidFill>
                <a:latin typeface="Meiryo"/>
              </a:rPr>
              <a:t>• 公式情報・公的情報・提供資料を統合する</a:t>
            </a:r>
          </a:p>
          <a:p>
            <a:r>
              <a:rPr sz="1400">
                <a:solidFill>
                  <a:srgbClr val="161E2D"/>
                </a:solidFill>
                <a:latin typeface="Meiryo"/>
              </a:rPr>
              <a:t>• 現場でそのまま使える説明資料を自動生成する</a:t>
            </a:r>
          </a:p>
          <a:p>
            <a:r>
              <a:rPr sz="1400">
                <a:solidFill>
                  <a:srgbClr val="161E2D"/>
                </a:solidFill>
                <a:latin typeface="Meiryo"/>
              </a:rPr>
              <a:t>• 最後に提供資料の完全コピー付録を保持する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603504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14F6A"/>
                </a:solidFill>
                <a:latin typeface="Meiryo"/>
              </a:rPr>
              <a:t>作成日: 2026-04-29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C5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9FF"/>
                </a:solidFill>
                <a:latin typeface="Meiryo"/>
              </a:rPr>
              <a:t>家族支援の基本方針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9692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D4E2F4"/>
                </a:solidFill>
                <a:latin typeface="Meiryo"/>
              </a:rPr>
              <a:t>本人と家族を同時に支える回復支援モデル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14F6A"/>
                </a:solidFill>
                <a:latin typeface="Meiryo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234440"/>
            <a:ext cx="5532120" cy="5074920"/>
          </a:xfrm>
          <a:prstGeom prst="rect">
            <a:avLst/>
          </a:prstGeom>
          <a:solidFill>
            <a:srgbClr val="E6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362456"/>
            <a:ext cx="5257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AA9D"/>
                </a:solidFill>
                <a:latin typeface="Meiryo"/>
              </a:rPr>
              <a:t>原則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801368"/>
            <a:ext cx="5257800" cy="4416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61E2D"/>
                </a:solidFill>
                <a:latin typeface="Meiryo"/>
              </a:rPr>
              <a:t>• 否認・孤立に対応する伴走支援</a:t>
            </a:r>
          </a:p>
          <a:p>
            <a:r>
              <a:rPr sz="1400">
                <a:solidFill>
                  <a:srgbClr val="161E2D"/>
                </a:solidFill>
                <a:latin typeface="Meiryo"/>
              </a:rPr>
              <a:t>• 非難ではなく理解と対話を重視</a:t>
            </a:r>
          </a:p>
          <a:p>
            <a:r>
              <a:rPr sz="1400">
                <a:solidFill>
                  <a:srgbClr val="161E2D"/>
                </a:solidFill>
                <a:latin typeface="Meiryo"/>
              </a:rPr>
              <a:t>• 秘密厳守と安全な相談環境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91072" y="1234440"/>
            <a:ext cx="5230368" cy="5074920"/>
          </a:xfrm>
          <a:prstGeom prst="rect">
            <a:avLst/>
          </a:prstGeom>
          <a:solidFill>
            <a:srgbClr val="E6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362456"/>
            <a:ext cx="495604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AA9D"/>
                </a:solidFill>
                <a:latin typeface="Meiryo"/>
              </a:rPr>
              <a:t>家族会の価値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1801368"/>
            <a:ext cx="4956048" cy="4416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61E2D"/>
                </a:solidFill>
                <a:latin typeface="Meiryo"/>
              </a:rPr>
              <a:t>• 孤立の軽減</a:t>
            </a:r>
          </a:p>
          <a:p>
            <a:r>
              <a:rPr sz="1400">
                <a:solidFill>
                  <a:srgbClr val="161E2D"/>
                </a:solidFill>
                <a:latin typeface="Meiryo"/>
              </a:rPr>
              <a:t>• 同じ経験から学べる</a:t>
            </a:r>
          </a:p>
          <a:p>
            <a:r>
              <a:rPr sz="1400">
                <a:solidFill>
                  <a:srgbClr val="161E2D"/>
                </a:solidFill>
                <a:latin typeface="Meiryo"/>
              </a:rPr>
              <a:t>• 支援疲れの予防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C5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9FF"/>
                </a:solidFill>
                <a:latin typeface="Meiryo"/>
              </a:rPr>
              <a:t>家族会プログラム設計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9692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D4E2F4"/>
                </a:solidFill>
                <a:latin typeface="Meiryo"/>
              </a:rPr>
              <a:t>CRAFTを軸に、実践と継続を支援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14F6A"/>
                </a:solidFill>
                <a:latin typeface="Meiryo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234440"/>
            <a:ext cx="5532120" cy="5074920"/>
          </a:xfrm>
          <a:prstGeom prst="rect">
            <a:avLst/>
          </a:prstGeom>
          <a:solidFill>
            <a:srgbClr val="E6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362456"/>
            <a:ext cx="5257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AA9D"/>
                </a:solidFill>
                <a:latin typeface="Meiryo"/>
              </a:rPr>
              <a:t>実施要素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801368"/>
            <a:ext cx="5257800" cy="4416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61E2D"/>
                </a:solidFill>
                <a:latin typeface="Meiryo"/>
              </a:rPr>
              <a:t>• 月次家族会</a:t>
            </a:r>
          </a:p>
          <a:p>
            <a:r>
              <a:rPr sz="1400">
                <a:solidFill>
                  <a:srgbClr val="161E2D"/>
                </a:solidFill>
                <a:latin typeface="Meiryo"/>
              </a:rPr>
              <a:t>• ケース共有</a:t>
            </a:r>
          </a:p>
          <a:p>
            <a:r>
              <a:rPr sz="1400">
                <a:solidFill>
                  <a:srgbClr val="161E2D"/>
                </a:solidFill>
                <a:latin typeface="Meiryo"/>
              </a:rPr>
              <a:t>• 応対スキルトレーニング</a:t>
            </a:r>
          </a:p>
          <a:p>
            <a:r>
              <a:rPr sz="1400">
                <a:solidFill>
                  <a:srgbClr val="161E2D"/>
                </a:solidFill>
                <a:latin typeface="Meiryo"/>
              </a:rPr>
              <a:t>• 個別相談フォロー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91072" y="1234440"/>
            <a:ext cx="5230368" cy="5074920"/>
          </a:xfrm>
          <a:prstGeom prst="rect">
            <a:avLst/>
          </a:prstGeom>
          <a:solidFill>
            <a:srgbClr val="E6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362456"/>
            <a:ext cx="495604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AA9D"/>
                </a:solidFill>
                <a:latin typeface="Meiryo"/>
              </a:rPr>
              <a:t>期待効果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1801368"/>
            <a:ext cx="4956048" cy="4416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61E2D"/>
                </a:solidFill>
                <a:latin typeface="Meiryo"/>
              </a:rPr>
              <a:t>• 相談までの時間短縮</a:t>
            </a:r>
          </a:p>
          <a:p>
            <a:r>
              <a:rPr sz="1400">
                <a:solidFill>
                  <a:srgbClr val="161E2D"/>
                </a:solidFill>
                <a:latin typeface="Meiryo"/>
              </a:rPr>
              <a:t>• 再発時の初動改善</a:t>
            </a:r>
          </a:p>
          <a:p>
            <a:r>
              <a:rPr sz="1400">
                <a:solidFill>
                  <a:srgbClr val="161E2D"/>
                </a:solidFill>
                <a:latin typeface="Meiryo"/>
              </a:rPr>
              <a:t>• 家族内コミュニケーション改善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C5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9FF"/>
                </a:solidFill>
                <a:latin typeface="Meiryo"/>
              </a:rPr>
              <a:t>回復ストーリーの伝え方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9692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D4E2F4"/>
                </a:solidFill>
                <a:latin typeface="Meiryo"/>
              </a:rPr>
              <a:t>希望を伝えつつ、現実的な支援導線を示す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14F6A"/>
                </a:solidFill>
                <a:latin typeface="Meiryo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234440"/>
            <a:ext cx="5532120" cy="5074920"/>
          </a:xfrm>
          <a:prstGeom prst="rect">
            <a:avLst/>
          </a:prstGeom>
          <a:solidFill>
            <a:srgbClr val="E6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362456"/>
            <a:ext cx="5257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AA9D"/>
                </a:solidFill>
                <a:latin typeface="Meiryo"/>
              </a:rPr>
              <a:t>伝達メッセージ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801368"/>
            <a:ext cx="5257800" cy="4416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61E2D"/>
                </a:solidFill>
                <a:latin typeface="Meiryo"/>
              </a:rPr>
              <a:t>• 変われる。変われた仲間がいる。</a:t>
            </a:r>
          </a:p>
          <a:p>
            <a:r>
              <a:rPr sz="1400">
                <a:solidFill>
                  <a:srgbClr val="161E2D"/>
                </a:solidFill>
                <a:latin typeface="Meiryo"/>
              </a:rPr>
              <a:t>• 一人で抱え込まない</a:t>
            </a:r>
          </a:p>
          <a:p>
            <a:r>
              <a:rPr sz="1400">
                <a:solidFill>
                  <a:srgbClr val="161E2D"/>
                </a:solidFill>
                <a:latin typeface="Meiryo"/>
              </a:rPr>
              <a:t>• 段階的な変化を積み重ねる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91072" y="1234440"/>
            <a:ext cx="5230368" cy="5074920"/>
          </a:xfrm>
          <a:prstGeom prst="rect">
            <a:avLst/>
          </a:prstGeom>
          <a:solidFill>
            <a:srgbClr val="E6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362456"/>
            <a:ext cx="495604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AA9D"/>
                </a:solidFill>
                <a:latin typeface="Meiryo"/>
              </a:rPr>
              <a:t>導線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1801368"/>
            <a:ext cx="4956048" cy="4416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61E2D"/>
                </a:solidFill>
                <a:latin typeface="Meiryo"/>
              </a:rPr>
              <a:t>• 電話・フォーム相談</a:t>
            </a:r>
          </a:p>
          <a:p>
            <a:r>
              <a:rPr sz="1400">
                <a:solidFill>
                  <a:srgbClr val="161E2D"/>
                </a:solidFill>
                <a:latin typeface="Meiryo"/>
              </a:rPr>
              <a:t>• 見学・面談</a:t>
            </a:r>
          </a:p>
          <a:p>
            <a:r>
              <a:rPr sz="1400">
                <a:solidFill>
                  <a:srgbClr val="161E2D"/>
                </a:solidFill>
                <a:latin typeface="Meiryo"/>
              </a:rPr>
              <a:t>• 入寮/通所</a:t>
            </a:r>
          </a:p>
          <a:p>
            <a:r>
              <a:rPr sz="1400">
                <a:solidFill>
                  <a:srgbClr val="161E2D"/>
                </a:solidFill>
                <a:latin typeface="Meiryo"/>
              </a:rPr>
              <a:t>• アフターケア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C5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9FF"/>
                </a:solidFill>
                <a:latin typeface="Meiryo"/>
              </a:rPr>
              <a:t>家族向けQ&amp;A強化項目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9692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D4E2F4"/>
                </a:solidFill>
                <a:latin typeface="Meiryo"/>
              </a:rPr>
              <a:t>説明会での不安解消ポイントを標準化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14F6A"/>
                </a:solidFill>
                <a:latin typeface="Meiryo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234440"/>
            <a:ext cx="5532120" cy="5074920"/>
          </a:xfrm>
          <a:prstGeom prst="rect">
            <a:avLst/>
          </a:prstGeom>
          <a:solidFill>
            <a:srgbClr val="E6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362456"/>
            <a:ext cx="5257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AA9D"/>
                </a:solidFill>
                <a:latin typeface="Meiryo"/>
              </a:rPr>
              <a:t>よくある不安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801368"/>
            <a:ext cx="5257800" cy="4416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61E2D"/>
                </a:solidFill>
                <a:latin typeface="Meiryo"/>
              </a:rPr>
              <a:t>• 費用感</a:t>
            </a:r>
          </a:p>
          <a:p>
            <a:r>
              <a:rPr sz="1400">
                <a:solidFill>
                  <a:srgbClr val="161E2D"/>
                </a:solidFill>
                <a:latin typeface="Meiryo"/>
              </a:rPr>
              <a:t>• 再使用リスク</a:t>
            </a:r>
          </a:p>
          <a:p>
            <a:r>
              <a:rPr sz="1400">
                <a:solidFill>
                  <a:srgbClr val="161E2D"/>
                </a:solidFill>
                <a:latin typeface="Meiryo"/>
              </a:rPr>
              <a:t>• 本人が拒否した場合</a:t>
            </a:r>
          </a:p>
          <a:p>
            <a:r>
              <a:rPr sz="1400">
                <a:solidFill>
                  <a:srgbClr val="161E2D"/>
                </a:solidFill>
                <a:latin typeface="Meiryo"/>
              </a:rPr>
              <a:t>• 家族の関わり方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91072" y="1234440"/>
            <a:ext cx="5230368" cy="5074920"/>
          </a:xfrm>
          <a:prstGeom prst="rect">
            <a:avLst/>
          </a:prstGeom>
          <a:solidFill>
            <a:srgbClr val="E6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362456"/>
            <a:ext cx="495604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AA9D"/>
                </a:solidFill>
                <a:latin typeface="Meiryo"/>
              </a:rPr>
              <a:t>回答方針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1801368"/>
            <a:ext cx="4956048" cy="4416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61E2D"/>
                </a:solidFill>
                <a:latin typeface="Meiryo"/>
              </a:rPr>
              <a:t>• 数字で示す</a:t>
            </a:r>
          </a:p>
          <a:p>
            <a:r>
              <a:rPr sz="1400">
                <a:solidFill>
                  <a:srgbClr val="161E2D"/>
                </a:solidFill>
                <a:latin typeface="Meiryo"/>
              </a:rPr>
              <a:t>• 無理な約束をしない</a:t>
            </a:r>
          </a:p>
          <a:p>
            <a:r>
              <a:rPr sz="1400">
                <a:solidFill>
                  <a:srgbClr val="161E2D"/>
                </a:solidFill>
                <a:latin typeface="Meiryo"/>
              </a:rPr>
              <a:t>• 選択肢を示す</a:t>
            </a:r>
          </a:p>
          <a:p>
            <a:r>
              <a:rPr sz="1400">
                <a:solidFill>
                  <a:srgbClr val="161E2D"/>
                </a:solidFill>
                <a:latin typeface="Meiryo"/>
              </a:rPr>
              <a:t>• 連絡先を明確化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C5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9FF"/>
                </a:solidFill>
                <a:latin typeface="Meiryo"/>
              </a:rPr>
              <a:t>お問い合わせ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9692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D4E2F4"/>
                </a:solidFill>
                <a:latin typeface="Meiryo"/>
              </a:rPr>
              <a:t>初回相談無料・秘密厳守（公式案内）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14F6A"/>
                </a:solidFill>
                <a:latin typeface="Meiryo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1463040"/>
            <a:ext cx="10241280" cy="4389120"/>
          </a:xfrm>
          <a:prstGeom prst="rect">
            <a:avLst/>
          </a:prstGeom>
          <a:solidFill>
            <a:srgbClr val="E6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591056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AA9D"/>
                </a:solidFill>
                <a:latin typeface="Meiryo"/>
              </a:rPr>
              <a:t>連絡先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029968"/>
            <a:ext cx="9966960" cy="3730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61E2D"/>
                </a:solidFill>
                <a:latin typeface="Meiryo"/>
              </a:rPr>
              <a:t>• 一般社団法人 相模原ダルク</a:t>
            </a:r>
          </a:p>
          <a:p>
            <a:r>
              <a:rPr sz="1400">
                <a:solidFill>
                  <a:srgbClr val="161E2D"/>
                </a:solidFill>
                <a:latin typeface="Meiryo"/>
              </a:rPr>
              <a:t>• 〒252-0237 神奈川県相模原市中央区千代田3-3-20</a:t>
            </a:r>
          </a:p>
          <a:p>
            <a:r>
              <a:rPr sz="1400">
                <a:solidFill>
                  <a:srgbClr val="161E2D"/>
                </a:solidFill>
                <a:latin typeface="Meiryo"/>
              </a:rPr>
              <a:t>• TEL 042-707-0391 / FAX 042-707-0392</a:t>
            </a:r>
          </a:p>
          <a:p>
            <a:r>
              <a:rPr sz="1400">
                <a:solidFill>
                  <a:srgbClr val="161E2D"/>
                </a:solidFill>
                <a:latin typeface="Meiryo"/>
              </a:rPr>
              <a:t>• 平日 9:00-17:00 / 土・祝 9:00-14:00</a:t>
            </a:r>
          </a:p>
          <a:p>
            <a:r>
              <a:rPr sz="1400">
                <a:solidFill>
                  <a:srgbClr val="161E2D"/>
                </a:solidFill>
                <a:latin typeface="Meiryo"/>
              </a:rPr>
              <a:t>• https://s-darc.com/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C5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9FF"/>
                </a:solidFill>
                <a:latin typeface="Meiryo"/>
              </a:rPr>
              <a:t>出典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9692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D4E2F4"/>
                </a:solidFill>
                <a:latin typeface="Meiryo"/>
              </a:rPr>
              <a:t>公式サイト・公的機関公開情報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14F6A"/>
                </a:solidFill>
                <a:latin typeface="Meiryo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554480"/>
            <a:ext cx="10789920" cy="4297680"/>
          </a:xfrm>
          <a:prstGeom prst="rect">
            <a:avLst/>
          </a:prstGeom>
          <a:solidFill>
            <a:srgbClr val="E6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82496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AA9D"/>
                </a:solidFill>
                <a:latin typeface="Meiryo"/>
              </a:rPr>
              <a:t>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21408"/>
            <a:ext cx="10515600" cy="3639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61E2D"/>
                </a:solidFill>
                <a:latin typeface="Meiryo"/>
              </a:rPr>
              <a:t>• 相模原ダルク公式サイト / 施設情報 / 強み / 問い合わせ</a:t>
            </a:r>
          </a:p>
          <a:p>
            <a:r>
              <a:rPr sz="1400">
                <a:solidFill>
                  <a:srgbClr val="161E2D"/>
                </a:solidFill>
                <a:latin typeface="Meiryo"/>
              </a:rPr>
              <a:t>• 警察庁 令和7年警察白書（薬物情勢）</a:t>
            </a:r>
          </a:p>
          <a:p>
            <a:r>
              <a:rPr sz="1400">
                <a:solidFill>
                  <a:srgbClr val="161E2D"/>
                </a:solidFill>
                <a:latin typeface="Meiryo"/>
              </a:rPr>
              <a:t>• 厚生労働省 依存症対策ページ</a:t>
            </a:r>
          </a:p>
          <a:p>
            <a:r>
              <a:rPr sz="1400">
                <a:solidFill>
                  <a:srgbClr val="161E2D"/>
                </a:solidFill>
                <a:latin typeface="Meiryo"/>
              </a:rPr>
              <a:t>• 提供資料: 2026プレゼンPDF・IRリデザインPPTX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C5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9FF"/>
                </a:solidFill>
                <a:latin typeface="Meiryo"/>
              </a:rPr>
              <a:t>自動補正ログ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9692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D4E2F4"/>
                </a:solidFill>
                <a:latin typeface="Meiryo"/>
              </a:rPr>
              <a:t>検証不一致を検知したため補正スライドを追加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14F6A"/>
                </a:solidFill>
                <a:latin typeface="Meiryo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325880"/>
            <a:ext cx="10789920" cy="4754880"/>
          </a:xfrm>
          <a:prstGeom prst="rect">
            <a:avLst/>
          </a:prstGeom>
          <a:solidFill>
            <a:srgbClr val="E6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453896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AA9D"/>
                </a:solidFill>
                <a:latin typeface="Meiryo"/>
              </a:rPr>
              <a:t>Validation Errors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892808"/>
            <a:ext cx="10515600" cy="4096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61E2D"/>
                </a:solidFill>
                <a:latin typeface="Meiryo"/>
              </a:rPr>
              <a:t>• [auto-fix] スライド枚数不足: 26 &lt; 29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C5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9FF"/>
                </a:solidFill>
                <a:latin typeface="Meiryo"/>
              </a:rPr>
              <a:t>自動補完資料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9692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D4E2F4"/>
                </a:solidFill>
                <a:latin typeface="Meiryo"/>
              </a:rPr>
              <a:t>検証要件を満たすために自動追加された補完スライド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14F6A"/>
                </a:solidFill>
                <a:latin typeface="Meiryo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463040"/>
            <a:ext cx="10241280" cy="4480560"/>
          </a:xfrm>
          <a:prstGeom prst="rect">
            <a:avLst/>
          </a:prstGeom>
          <a:solidFill>
            <a:srgbClr val="E6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591056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AA9D"/>
                </a:solidFill>
                <a:latin typeface="Meiryo"/>
              </a:rPr>
              <a:t>補完内容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029968"/>
            <a:ext cx="9966960" cy="3822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61E2D"/>
                </a:solidFill>
                <a:latin typeface="Meiryo"/>
              </a:rPr>
              <a:t>• 本スライドは自動品質チェックの結果に基づき追加</a:t>
            </a:r>
          </a:p>
          <a:p>
            <a:r>
              <a:rPr sz="1400">
                <a:solidFill>
                  <a:srgbClr val="161E2D"/>
                </a:solidFill>
                <a:latin typeface="Meiryo"/>
              </a:rPr>
              <a:t>• スライド枚数・構成の充足を機械的に担保</a:t>
            </a:r>
          </a:p>
          <a:p>
            <a:r>
              <a:rPr sz="1400">
                <a:solidFill>
                  <a:srgbClr val="161E2D"/>
                </a:solidFill>
                <a:latin typeface="Meiryo"/>
              </a:rPr>
              <a:t>• 本番利用時は任意で編集・差し替え可能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C5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9FF"/>
                </a:solidFill>
                <a:latin typeface="Meiryo"/>
              </a:rPr>
              <a:t>自動補完資料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9692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D4E2F4"/>
                </a:solidFill>
                <a:latin typeface="Meiryo"/>
              </a:rPr>
              <a:t>検証要件を満たすために自動追加された補完スライド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14F6A"/>
                </a:solidFill>
                <a:latin typeface="Meiryo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463040"/>
            <a:ext cx="10241280" cy="4480560"/>
          </a:xfrm>
          <a:prstGeom prst="rect">
            <a:avLst/>
          </a:prstGeom>
          <a:solidFill>
            <a:srgbClr val="E6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591056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AA9D"/>
                </a:solidFill>
                <a:latin typeface="Meiryo"/>
              </a:rPr>
              <a:t>補完内容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029968"/>
            <a:ext cx="9966960" cy="3822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61E2D"/>
                </a:solidFill>
                <a:latin typeface="Meiryo"/>
              </a:rPr>
              <a:t>• 本スライドは自動品質チェックの結果に基づき追加</a:t>
            </a:r>
          </a:p>
          <a:p>
            <a:r>
              <a:rPr sz="1400">
                <a:solidFill>
                  <a:srgbClr val="161E2D"/>
                </a:solidFill>
                <a:latin typeface="Meiryo"/>
              </a:rPr>
              <a:t>• スライド枚数・構成の充足を機械的に担保</a:t>
            </a:r>
          </a:p>
          <a:p>
            <a:r>
              <a:rPr sz="1400">
                <a:solidFill>
                  <a:srgbClr val="161E2D"/>
                </a:solidFill>
                <a:latin typeface="Meiryo"/>
              </a:rPr>
              <a:t>• 本番利用時は任意で編集・差し替え可能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C5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9FF"/>
                </a:solidFill>
                <a:latin typeface="Meiryo"/>
              </a:rPr>
              <a:t>自動補完資料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9692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D4E2F4"/>
                </a:solidFill>
                <a:latin typeface="Meiryo"/>
              </a:rPr>
              <a:t>検証要件を満たすために自動追加された補完スライド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14F6A"/>
                </a:solidFill>
                <a:latin typeface="Meiryo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463040"/>
            <a:ext cx="10241280" cy="4480560"/>
          </a:xfrm>
          <a:prstGeom prst="rect">
            <a:avLst/>
          </a:prstGeom>
          <a:solidFill>
            <a:srgbClr val="E6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591056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AA9D"/>
                </a:solidFill>
                <a:latin typeface="Meiryo"/>
              </a:rPr>
              <a:t>補完内容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029968"/>
            <a:ext cx="9966960" cy="3822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61E2D"/>
                </a:solidFill>
                <a:latin typeface="Meiryo"/>
              </a:rPr>
              <a:t>• 本スライドは自動品質チェックの結果に基づき追加</a:t>
            </a:r>
          </a:p>
          <a:p>
            <a:r>
              <a:rPr sz="1400">
                <a:solidFill>
                  <a:srgbClr val="161E2D"/>
                </a:solidFill>
                <a:latin typeface="Meiryo"/>
              </a:rPr>
              <a:t>• スライド枚数・構成の充足を機械的に担保</a:t>
            </a:r>
          </a:p>
          <a:p>
            <a:r>
              <a:rPr sz="1400">
                <a:solidFill>
                  <a:srgbClr val="161E2D"/>
                </a:solidFill>
                <a:latin typeface="Meiryo"/>
              </a:rPr>
              <a:t>• 本番利用時は任意で編集・差し替え可能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C5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9FF"/>
                </a:solidFill>
                <a:latin typeface="Meiryo"/>
              </a:rPr>
              <a:t>付録: 提供資料の完全コピー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9692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D4E2F4"/>
                </a:solidFill>
                <a:latin typeface="Meiryo"/>
              </a:rPr>
              <a:t>提供PDF18ページを順番通りに画像収録（削除・改変なし）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14F6A"/>
                </a:solidFill>
                <a:latin typeface="Meiryo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645920"/>
            <a:ext cx="10424160" cy="3840480"/>
          </a:xfrm>
          <a:prstGeom prst="rect">
            <a:avLst/>
          </a:prstGeom>
          <a:solidFill>
            <a:srgbClr val="E6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773936"/>
            <a:ext cx="10149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AA9D"/>
                </a:solidFill>
                <a:latin typeface="Meiryo"/>
              </a:rPr>
              <a:t>Appendix 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212848"/>
            <a:ext cx="10149840" cy="3182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61E2D"/>
                </a:solidFill>
                <a:latin typeface="Meiryo"/>
              </a:rPr>
              <a:t>• 元資料: sagamihara_darc_presentation_2026_20260421013752.pdf</a:t>
            </a:r>
          </a:p>
          <a:p>
            <a:r>
              <a:rPr sz="1400">
                <a:solidFill>
                  <a:srgbClr val="161E2D"/>
                </a:solidFill>
                <a:latin typeface="Meiryo"/>
              </a:rPr>
              <a:t>• 全18ページを高解像度で貼り付け</a:t>
            </a:r>
          </a:p>
          <a:p>
            <a:r>
              <a:rPr sz="1400">
                <a:solidFill>
                  <a:srgbClr val="161E2D"/>
                </a:solidFill>
                <a:latin typeface="Meiryo"/>
              </a:rPr>
              <a:t>• 既存内容を保持しつつ新規セクションを先頭に追加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