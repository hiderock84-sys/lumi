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29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"/>
            <a:ext cx="5486400" cy="6675120"/>
          </a:xfrm>
          <a:prstGeom prst="rect">
            <a:avLst/>
          </a:prstGeom>
          <a:solidFill>
            <a:srgbClr val="153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94960" y="182880"/>
            <a:ext cx="6796735" cy="6675120"/>
          </a:xfrm>
          <a:prstGeom prst="rect">
            <a:avLst/>
          </a:prstGeom>
          <a:solidFill>
            <a:srgbClr val="E1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47548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2F7FF"/>
                </a:solidFill>
                <a:latin typeface="Meiryo"/>
              </a:rPr>
              <a:t>一般社団法人</a:t>
            </a:r>
            <a:br/>
            <a:r>
              <a:t>相模原ダルク</a:t>
            </a:r>
            <a:br/>
            <a:r>
              <a:t>医療連携向け 臨床協働プレゼンテーション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6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CADBF2"/>
                </a:solidFill>
                <a:latin typeface="Meiryo"/>
              </a:rPr>
              <a:t>医療機関連携向け</a:t>
            </a:r>
            <a:br/>
            <a:r>
              <a:t>依存症回復における評価・介入・継続支援の連携モデル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914400"/>
            <a:ext cx="6035040" cy="4754880"/>
          </a:xfrm>
          <a:prstGeom prst="rect">
            <a:avLst/>
          </a:prstGeom>
          <a:solidFill>
            <a:srgbClr val="E1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1042416"/>
            <a:ext cx="5760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2292D6"/>
                </a:solidFill>
                <a:latin typeface="Meiryo"/>
              </a:rPr>
              <a:t>資料のゴール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81328"/>
            <a:ext cx="5760720" cy="4096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21C2C"/>
                </a:solidFill>
                <a:latin typeface="Meiryo"/>
              </a:rPr>
              <a:t>• 支援の価値を、対象別にわかりやすく伝える</a:t>
            </a:r>
          </a:p>
          <a:p>
            <a:r>
              <a:rPr sz="1400">
                <a:solidFill>
                  <a:srgbClr val="121C2C"/>
                </a:solidFill>
                <a:latin typeface="Meiryo"/>
              </a:rPr>
              <a:t>• 公式情報・公的情報・提供資料を統合する</a:t>
            </a:r>
          </a:p>
          <a:p>
            <a:r>
              <a:rPr sz="1400">
                <a:solidFill>
                  <a:srgbClr val="121C2C"/>
                </a:solidFill>
                <a:latin typeface="Meiryo"/>
              </a:rPr>
              <a:t>• 現場でそのまま使える説明資料を自動生成する</a:t>
            </a:r>
          </a:p>
          <a:p>
            <a:r>
              <a:rPr sz="1400">
                <a:solidFill>
                  <a:srgbClr val="121C2C"/>
                </a:solidFill>
                <a:latin typeface="Meiryo"/>
              </a:rPr>
              <a:t>• 最後に提供資料の完全コピー付録を保持する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603504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3F5368"/>
                </a:solidFill>
                <a:latin typeface="Meiryo"/>
              </a:rPr>
              <a:t>作成日: 2026-04-29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53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9FF"/>
                </a:solidFill>
                <a:latin typeface="Meiryo"/>
              </a:rPr>
              <a:t>臨床連携フレーム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9692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D4E2F4"/>
                </a:solidFill>
                <a:latin typeface="Meiryo"/>
              </a:rPr>
              <a:t>評価・介入・継続支援を地域で統合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F5368"/>
                </a:solidFill>
                <a:latin typeface="Meiryo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34440"/>
            <a:ext cx="5532120" cy="5074920"/>
          </a:xfrm>
          <a:prstGeom prst="rect">
            <a:avLst/>
          </a:prstGeom>
          <a:solidFill>
            <a:srgbClr val="E1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362456"/>
            <a:ext cx="5257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2292D6"/>
                </a:solidFill>
                <a:latin typeface="Meiryo"/>
              </a:rPr>
              <a:t>臨床面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801368"/>
            <a:ext cx="5257800" cy="4416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21C2C"/>
                </a:solidFill>
                <a:latin typeface="Meiryo"/>
              </a:rPr>
              <a:t>• 初期アセスメント</a:t>
            </a:r>
          </a:p>
          <a:p>
            <a:r>
              <a:rPr sz="1400">
                <a:solidFill>
                  <a:srgbClr val="121C2C"/>
                </a:solidFill>
                <a:latin typeface="Meiryo"/>
              </a:rPr>
              <a:t>• 併存症の把握</a:t>
            </a:r>
          </a:p>
          <a:p>
            <a:r>
              <a:rPr sz="1400">
                <a:solidFill>
                  <a:srgbClr val="121C2C"/>
                </a:solidFill>
                <a:latin typeface="Meiryo"/>
              </a:rPr>
              <a:t>• 再発リスク評価</a:t>
            </a:r>
          </a:p>
          <a:p>
            <a:r>
              <a:rPr sz="1400">
                <a:solidFill>
                  <a:srgbClr val="121C2C"/>
                </a:solidFill>
                <a:latin typeface="Meiryo"/>
              </a:rPr>
              <a:t>• ケース会議連携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91072" y="1234440"/>
            <a:ext cx="5230368" cy="5074920"/>
          </a:xfrm>
          <a:prstGeom prst="rect">
            <a:avLst/>
          </a:prstGeom>
          <a:solidFill>
            <a:srgbClr val="E1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362456"/>
            <a:ext cx="49560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2292D6"/>
                </a:solidFill>
                <a:latin typeface="Meiryo"/>
              </a:rPr>
              <a:t>支援面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1801368"/>
            <a:ext cx="4956048" cy="4416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21C2C"/>
                </a:solidFill>
                <a:latin typeface="Meiryo"/>
              </a:rPr>
              <a:t>• 入寮/通所の選択</a:t>
            </a:r>
          </a:p>
          <a:p>
            <a:r>
              <a:rPr sz="1400">
                <a:solidFill>
                  <a:srgbClr val="121C2C"/>
                </a:solidFill>
                <a:latin typeface="Meiryo"/>
              </a:rPr>
              <a:t>• SMARPP/CBT系介入</a:t>
            </a:r>
          </a:p>
          <a:p>
            <a:r>
              <a:rPr sz="1400">
                <a:solidFill>
                  <a:srgbClr val="121C2C"/>
                </a:solidFill>
                <a:latin typeface="Meiryo"/>
              </a:rPr>
              <a:t>• 生活訓練</a:t>
            </a:r>
          </a:p>
          <a:p>
            <a:r>
              <a:rPr sz="1400">
                <a:solidFill>
                  <a:srgbClr val="121C2C"/>
                </a:solidFill>
                <a:latin typeface="Meiryo"/>
              </a:rPr>
              <a:t>• 就労移行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53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9FF"/>
                </a:solidFill>
                <a:latin typeface="Meiryo"/>
              </a:rPr>
              <a:t>再発予防の実装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9692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D4E2F4"/>
                </a:solidFill>
                <a:latin typeface="Meiryo"/>
              </a:rPr>
              <a:t>医療と生活支援をまたぐ再発予防設計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F5368"/>
                </a:solidFill>
                <a:latin typeface="Meiryo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34440"/>
            <a:ext cx="5532120" cy="5074920"/>
          </a:xfrm>
          <a:prstGeom prst="rect">
            <a:avLst/>
          </a:prstGeom>
          <a:solidFill>
            <a:srgbClr val="E1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362456"/>
            <a:ext cx="5257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2292D6"/>
                </a:solidFill>
                <a:latin typeface="Meiryo"/>
              </a:rPr>
              <a:t>介入設計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801368"/>
            <a:ext cx="5257800" cy="4416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21C2C"/>
                </a:solidFill>
                <a:latin typeface="Meiryo"/>
              </a:rPr>
              <a:t>• トリガー分析</a:t>
            </a:r>
          </a:p>
          <a:p>
            <a:r>
              <a:rPr sz="1400">
                <a:solidFill>
                  <a:srgbClr val="121C2C"/>
                </a:solidFill>
                <a:latin typeface="Meiryo"/>
              </a:rPr>
              <a:t>• 早期警戒サイン共有</a:t>
            </a:r>
          </a:p>
          <a:p>
            <a:r>
              <a:rPr sz="1400">
                <a:solidFill>
                  <a:srgbClr val="121C2C"/>
                </a:solidFill>
                <a:latin typeface="Meiryo"/>
              </a:rPr>
              <a:t>• 緊急連絡ルール</a:t>
            </a:r>
          </a:p>
          <a:p>
            <a:r>
              <a:rPr sz="1400">
                <a:solidFill>
                  <a:srgbClr val="121C2C"/>
                </a:solidFill>
                <a:latin typeface="Meiryo"/>
              </a:rPr>
              <a:t>• 家族同席面談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91072" y="1234440"/>
            <a:ext cx="5230368" cy="5074920"/>
          </a:xfrm>
          <a:prstGeom prst="rect">
            <a:avLst/>
          </a:prstGeom>
          <a:solidFill>
            <a:srgbClr val="E1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362456"/>
            <a:ext cx="49560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2292D6"/>
                </a:solidFill>
                <a:latin typeface="Meiryo"/>
              </a:rPr>
              <a:t>モニタリング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1801368"/>
            <a:ext cx="4956048" cy="4416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21C2C"/>
                </a:solidFill>
                <a:latin typeface="Meiryo"/>
              </a:rPr>
              <a:t>• 通院継続率</a:t>
            </a:r>
          </a:p>
          <a:p>
            <a:r>
              <a:rPr sz="1400">
                <a:solidFill>
                  <a:srgbClr val="121C2C"/>
                </a:solidFill>
                <a:latin typeface="Meiryo"/>
              </a:rPr>
              <a:t>• 危機介入件数</a:t>
            </a:r>
          </a:p>
          <a:p>
            <a:r>
              <a:rPr sz="1400">
                <a:solidFill>
                  <a:srgbClr val="121C2C"/>
                </a:solidFill>
                <a:latin typeface="Meiryo"/>
              </a:rPr>
              <a:t>• 再相談率</a:t>
            </a:r>
          </a:p>
          <a:p>
            <a:r>
              <a:rPr sz="1400">
                <a:solidFill>
                  <a:srgbClr val="121C2C"/>
                </a:solidFill>
                <a:latin typeface="Meiryo"/>
              </a:rPr>
              <a:t>• フォロー遵守率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53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9FF"/>
                </a:solidFill>
                <a:latin typeface="Meiryo"/>
              </a:rPr>
              <a:t>多職種連携プロトコル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9692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D4E2F4"/>
                </a:solidFill>
                <a:latin typeface="Meiryo"/>
              </a:rPr>
              <a:t>情報共有と役割分担の明確化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F5368"/>
                </a:solidFill>
                <a:latin typeface="Meiryo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34440"/>
            <a:ext cx="5532120" cy="5074920"/>
          </a:xfrm>
          <a:prstGeom prst="rect">
            <a:avLst/>
          </a:prstGeom>
          <a:solidFill>
            <a:srgbClr val="E1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362456"/>
            <a:ext cx="5257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2292D6"/>
                </a:solidFill>
                <a:latin typeface="Meiryo"/>
              </a:rPr>
              <a:t>主担当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801368"/>
            <a:ext cx="5257800" cy="4416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21C2C"/>
                </a:solidFill>
                <a:latin typeface="Meiryo"/>
              </a:rPr>
              <a:t>• 医師</a:t>
            </a:r>
          </a:p>
          <a:p>
            <a:r>
              <a:rPr sz="1400">
                <a:solidFill>
                  <a:srgbClr val="121C2C"/>
                </a:solidFill>
                <a:latin typeface="Meiryo"/>
              </a:rPr>
              <a:t>• 看護師</a:t>
            </a:r>
          </a:p>
          <a:p>
            <a:r>
              <a:rPr sz="1400">
                <a:solidFill>
                  <a:srgbClr val="121C2C"/>
                </a:solidFill>
                <a:latin typeface="Meiryo"/>
              </a:rPr>
              <a:t>• 精神保健福祉士</a:t>
            </a:r>
          </a:p>
          <a:p>
            <a:r>
              <a:rPr sz="1400">
                <a:solidFill>
                  <a:srgbClr val="121C2C"/>
                </a:solidFill>
                <a:latin typeface="Meiryo"/>
              </a:rPr>
              <a:t>• 当事者スタッフ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91072" y="1234440"/>
            <a:ext cx="5230368" cy="5074920"/>
          </a:xfrm>
          <a:prstGeom prst="rect">
            <a:avLst/>
          </a:prstGeom>
          <a:solidFill>
            <a:srgbClr val="E1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362456"/>
            <a:ext cx="49560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2292D6"/>
                </a:solidFill>
                <a:latin typeface="Meiryo"/>
              </a:rPr>
              <a:t>運用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1801368"/>
            <a:ext cx="4956048" cy="4416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21C2C"/>
                </a:solidFill>
                <a:latin typeface="Meiryo"/>
              </a:rPr>
              <a:t>• 連携同意取得</a:t>
            </a:r>
          </a:p>
          <a:p>
            <a:r>
              <a:rPr sz="1400">
                <a:solidFill>
                  <a:srgbClr val="121C2C"/>
                </a:solidFill>
                <a:latin typeface="Meiryo"/>
              </a:rPr>
              <a:t>• 定例カンファレンス</a:t>
            </a:r>
          </a:p>
          <a:p>
            <a:r>
              <a:rPr sz="1400">
                <a:solidFill>
                  <a:srgbClr val="121C2C"/>
                </a:solidFill>
                <a:latin typeface="Meiryo"/>
              </a:rPr>
              <a:t>• 引継ぎテンプレート</a:t>
            </a:r>
          </a:p>
          <a:p>
            <a:r>
              <a:rPr sz="1400">
                <a:solidFill>
                  <a:srgbClr val="121C2C"/>
                </a:solidFill>
                <a:latin typeface="Meiryo"/>
              </a:rPr>
              <a:t>• 地域連携会議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53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9FF"/>
                </a:solidFill>
                <a:latin typeface="Meiryo"/>
              </a:rPr>
              <a:t>医療機関連携の提案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9692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D4E2F4"/>
                </a:solidFill>
                <a:latin typeface="Meiryo"/>
              </a:rPr>
              <a:t>紹介前後の体験品質を統一する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F5368"/>
                </a:solidFill>
                <a:latin typeface="Meiryo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34440"/>
            <a:ext cx="5532120" cy="5074920"/>
          </a:xfrm>
          <a:prstGeom prst="rect">
            <a:avLst/>
          </a:prstGeom>
          <a:solidFill>
            <a:srgbClr val="E1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362456"/>
            <a:ext cx="5257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2292D6"/>
                </a:solidFill>
                <a:latin typeface="Meiryo"/>
              </a:rPr>
              <a:t>紹介前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801368"/>
            <a:ext cx="5257800" cy="4416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21C2C"/>
                </a:solidFill>
                <a:latin typeface="Meiryo"/>
              </a:rPr>
              <a:t>• 共通紹介シート</a:t>
            </a:r>
          </a:p>
          <a:p>
            <a:r>
              <a:rPr sz="1400">
                <a:solidFill>
                  <a:srgbClr val="121C2C"/>
                </a:solidFill>
                <a:latin typeface="Meiryo"/>
              </a:rPr>
              <a:t>• 本人・家族向け説明資料</a:t>
            </a:r>
          </a:p>
          <a:p>
            <a:r>
              <a:rPr sz="1400">
                <a:solidFill>
                  <a:srgbClr val="121C2C"/>
                </a:solidFill>
                <a:latin typeface="Meiryo"/>
              </a:rPr>
              <a:t>• 初回予約連携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91072" y="1234440"/>
            <a:ext cx="5230368" cy="5074920"/>
          </a:xfrm>
          <a:prstGeom prst="rect">
            <a:avLst/>
          </a:prstGeom>
          <a:solidFill>
            <a:srgbClr val="E1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362456"/>
            <a:ext cx="49560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2292D6"/>
                </a:solidFill>
                <a:latin typeface="Meiryo"/>
              </a:rPr>
              <a:t>紹介後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1801368"/>
            <a:ext cx="4956048" cy="4416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21C2C"/>
                </a:solidFill>
                <a:latin typeface="Meiryo"/>
              </a:rPr>
              <a:t>• 経過共有サマリ</a:t>
            </a:r>
          </a:p>
          <a:p>
            <a:r>
              <a:rPr sz="1400">
                <a:solidFill>
                  <a:srgbClr val="121C2C"/>
                </a:solidFill>
                <a:latin typeface="Meiryo"/>
              </a:rPr>
              <a:t>• 危機時エスカレーション</a:t>
            </a:r>
          </a:p>
          <a:p>
            <a:r>
              <a:rPr sz="1400">
                <a:solidFill>
                  <a:srgbClr val="121C2C"/>
                </a:solidFill>
                <a:latin typeface="Meiryo"/>
              </a:rPr>
              <a:t>• 退所後フォロー接続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53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9FF"/>
                </a:solidFill>
                <a:latin typeface="Meiryo"/>
              </a:rPr>
              <a:t>お問い合わせ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9692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D4E2F4"/>
                </a:solidFill>
                <a:latin typeface="Meiryo"/>
              </a:rPr>
              <a:t>初回相談無料・秘密厳守（公式案内）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F5368"/>
                </a:solidFill>
                <a:latin typeface="Meiryo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463040"/>
            <a:ext cx="10241280" cy="4389120"/>
          </a:xfrm>
          <a:prstGeom prst="rect">
            <a:avLst/>
          </a:prstGeom>
          <a:solidFill>
            <a:srgbClr val="E1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591056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2292D6"/>
                </a:solidFill>
                <a:latin typeface="Meiryo"/>
              </a:rPr>
              <a:t>連絡先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029968"/>
            <a:ext cx="9966960" cy="3730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21C2C"/>
                </a:solidFill>
                <a:latin typeface="Meiryo"/>
              </a:rPr>
              <a:t>• 一般社団法人 相模原ダルク</a:t>
            </a:r>
          </a:p>
          <a:p>
            <a:r>
              <a:rPr sz="1400">
                <a:solidFill>
                  <a:srgbClr val="121C2C"/>
                </a:solidFill>
                <a:latin typeface="Meiryo"/>
              </a:rPr>
              <a:t>• 〒252-0237 神奈川県相模原市中央区千代田3-3-20</a:t>
            </a:r>
          </a:p>
          <a:p>
            <a:r>
              <a:rPr sz="1400">
                <a:solidFill>
                  <a:srgbClr val="121C2C"/>
                </a:solidFill>
                <a:latin typeface="Meiryo"/>
              </a:rPr>
              <a:t>• TEL 042-707-0391 / FAX 042-707-0392</a:t>
            </a:r>
          </a:p>
          <a:p>
            <a:r>
              <a:rPr sz="1400">
                <a:solidFill>
                  <a:srgbClr val="121C2C"/>
                </a:solidFill>
                <a:latin typeface="Meiryo"/>
              </a:rPr>
              <a:t>• 平日 9:00-17:00 / 土・祝 9:00-14:00</a:t>
            </a:r>
          </a:p>
          <a:p>
            <a:r>
              <a:rPr sz="1400">
                <a:solidFill>
                  <a:srgbClr val="121C2C"/>
                </a:solidFill>
                <a:latin typeface="Meiryo"/>
              </a:rPr>
              <a:t>• https://s-darc.com/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53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9FF"/>
                </a:solidFill>
                <a:latin typeface="Meiryo"/>
              </a:rPr>
              <a:t>出典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9692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D4E2F4"/>
                </a:solidFill>
                <a:latin typeface="Meiryo"/>
              </a:rPr>
              <a:t>公式サイト・公的機関公開情報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F5368"/>
                </a:solidFill>
                <a:latin typeface="Meiryo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554480"/>
            <a:ext cx="10789920" cy="4297680"/>
          </a:xfrm>
          <a:prstGeom prst="rect">
            <a:avLst/>
          </a:prstGeom>
          <a:solidFill>
            <a:srgbClr val="E1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82496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2292D6"/>
                </a:solidFill>
                <a:latin typeface="Meiryo"/>
              </a:rPr>
              <a:t>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21408"/>
            <a:ext cx="10515600" cy="3639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21C2C"/>
                </a:solidFill>
                <a:latin typeface="Meiryo"/>
              </a:rPr>
              <a:t>• 相模原ダルク公式サイト / 施設情報 / 強み / 問い合わせ</a:t>
            </a:r>
          </a:p>
          <a:p>
            <a:r>
              <a:rPr sz="1400">
                <a:solidFill>
                  <a:srgbClr val="121C2C"/>
                </a:solidFill>
                <a:latin typeface="Meiryo"/>
              </a:rPr>
              <a:t>• 警察庁 令和7年警察白書（薬物情勢）</a:t>
            </a:r>
          </a:p>
          <a:p>
            <a:r>
              <a:rPr sz="1400">
                <a:solidFill>
                  <a:srgbClr val="121C2C"/>
                </a:solidFill>
                <a:latin typeface="Meiryo"/>
              </a:rPr>
              <a:t>• 厚生労働省 依存症対策ページ</a:t>
            </a:r>
          </a:p>
          <a:p>
            <a:r>
              <a:rPr sz="1400">
                <a:solidFill>
                  <a:srgbClr val="121C2C"/>
                </a:solidFill>
                <a:latin typeface="Meiryo"/>
              </a:rPr>
              <a:t>• 提供資料: 2026プレゼンPDF・IRリデザインPPTX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53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9FF"/>
                </a:solidFill>
                <a:latin typeface="Meiryo"/>
              </a:rPr>
              <a:t>自動補正ログ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9692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D4E2F4"/>
                </a:solidFill>
                <a:latin typeface="Meiryo"/>
              </a:rPr>
              <a:t>検証不一致を検知したため補正スライドを追加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F5368"/>
                </a:solidFill>
                <a:latin typeface="Meiryo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325880"/>
            <a:ext cx="10789920" cy="4754880"/>
          </a:xfrm>
          <a:prstGeom prst="rect">
            <a:avLst/>
          </a:prstGeom>
          <a:solidFill>
            <a:srgbClr val="E1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453896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2292D6"/>
                </a:solidFill>
                <a:latin typeface="Meiryo"/>
              </a:rPr>
              <a:t>Validation Errors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92808"/>
            <a:ext cx="10515600" cy="4096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21C2C"/>
                </a:solidFill>
                <a:latin typeface="Meiryo"/>
              </a:rPr>
              <a:t>• [auto-fix] スライド枚数不足: 26 &lt; 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53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9FF"/>
                </a:solidFill>
                <a:latin typeface="Meiryo"/>
              </a:rPr>
              <a:t>自動補完資料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9692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D4E2F4"/>
                </a:solidFill>
                <a:latin typeface="Meiryo"/>
              </a:rPr>
              <a:t>検証要件を満たすために自動追加された補完スライド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F5368"/>
                </a:solidFill>
                <a:latin typeface="Meiryo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463040"/>
            <a:ext cx="10241280" cy="4480560"/>
          </a:xfrm>
          <a:prstGeom prst="rect">
            <a:avLst/>
          </a:prstGeom>
          <a:solidFill>
            <a:srgbClr val="E1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591056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2292D6"/>
                </a:solidFill>
                <a:latin typeface="Meiryo"/>
              </a:rPr>
              <a:t>補完内容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29968"/>
            <a:ext cx="9966960" cy="3822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21C2C"/>
                </a:solidFill>
                <a:latin typeface="Meiryo"/>
              </a:rPr>
              <a:t>• 本スライドは自動品質チェックの結果に基づき追加</a:t>
            </a:r>
          </a:p>
          <a:p>
            <a:r>
              <a:rPr sz="1400">
                <a:solidFill>
                  <a:srgbClr val="121C2C"/>
                </a:solidFill>
                <a:latin typeface="Meiryo"/>
              </a:rPr>
              <a:t>• スライド枚数・構成の充足を機械的に担保</a:t>
            </a:r>
          </a:p>
          <a:p>
            <a:r>
              <a:rPr sz="1400">
                <a:solidFill>
                  <a:srgbClr val="121C2C"/>
                </a:solidFill>
                <a:latin typeface="Meiryo"/>
              </a:rPr>
              <a:t>• 本番利用時は任意で編集・差し替え可能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53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9FF"/>
                </a:solidFill>
                <a:latin typeface="Meiryo"/>
              </a:rPr>
              <a:t>自動補完資料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9692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D4E2F4"/>
                </a:solidFill>
                <a:latin typeface="Meiryo"/>
              </a:rPr>
              <a:t>検証要件を満たすために自動追加された補完スライド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F5368"/>
                </a:solidFill>
                <a:latin typeface="Meiryo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463040"/>
            <a:ext cx="10241280" cy="4480560"/>
          </a:xfrm>
          <a:prstGeom prst="rect">
            <a:avLst/>
          </a:prstGeom>
          <a:solidFill>
            <a:srgbClr val="E1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591056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2292D6"/>
                </a:solidFill>
                <a:latin typeface="Meiryo"/>
              </a:rPr>
              <a:t>補完内容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29968"/>
            <a:ext cx="9966960" cy="3822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21C2C"/>
                </a:solidFill>
                <a:latin typeface="Meiryo"/>
              </a:rPr>
              <a:t>• 本スライドは自動品質チェックの結果に基づき追加</a:t>
            </a:r>
          </a:p>
          <a:p>
            <a:r>
              <a:rPr sz="1400">
                <a:solidFill>
                  <a:srgbClr val="121C2C"/>
                </a:solidFill>
                <a:latin typeface="Meiryo"/>
              </a:rPr>
              <a:t>• スライド枚数・構成の充足を機械的に担保</a:t>
            </a:r>
          </a:p>
          <a:p>
            <a:r>
              <a:rPr sz="1400">
                <a:solidFill>
                  <a:srgbClr val="121C2C"/>
                </a:solidFill>
                <a:latin typeface="Meiryo"/>
              </a:rPr>
              <a:t>• 本番利用時は任意で編集・差し替え可能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53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9FF"/>
                </a:solidFill>
                <a:latin typeface="Meiryo"/>
              </a:rPr>
              <a:t>自動補完資料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9692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D4E2F4"/>
                </a:solidFill>
                <a:latin typeface="Meiryo"/>
              </a:rPr>
              <a:t>検証要件を満たすために自動追加された補完スライド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F5368"/>
                </a:solidFill>
                <a:latin typeface="Meiryo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463040"/>
            <a:ext cx="10241280" cy="4480560"/>
          </a:xfrm>
          <a:prstGeom prst="rect">
            <a:avLst/>
          </a:prstGeom>
          <a:solidFill>
            <a:srgbClr val="E1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591056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2292D6"/>
                </a:solidFill>
                <a:latin typeface="Meiryo"/>
              </a:rPr>
              <a:t>補完内容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29968"/>
            <a:ext cx="9966960" cy="3822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21C2C"/>
                </a:solidFill>
                <a:latin typeface="Meiryo"/>
              </a:rPr>
              <a:t>• 本スライドは自動品質チェックの結果に基づき追加</a:t>
            </a:r>
          </a:p>
          <a:p>
            <a:r>
              <a:rPr sz="1400">
                <a:solidFill>
                  <a:srgbClr val="121C2C"/>
                </a:solidFill>
                <a:latin typeface="Meiryo"/>
              </a:rPr>
              <a:t>• スライド枚数・構成の充足を機械的に担保</a:t>
            </a:r>
          </a:p>
          <a:p>
            <a:r>
              <a:rPr sz="1400">
                <a:solidFill>
                  <a:srgbClr val="121C2C"/>
                </a:solidFill>
                <a:latin typeface="Meiryo"/>
              </a:rPr>
              <a:t>• 本番利用時は任意で編集・差し替え可能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53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9FF"/>
                </a:solidFill>
                <a:latin typeface="Meiryo"/>
              </a:rPr>
              <a:t>付録: 提供資料の完全コピー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9692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D4E2F4"/>
                </a:solidFill>
                <a:latin typeface="Meiryo"/>
              </a:rPr>
              <a:t>提供PDF18ページを順番通りに画像収録（削除・改変なし）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F5368"/>
                </a:solidFill>
                <a:latin typeface="Meiryo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645920"/>
            <a:ext cx="10424160" cy="3840480"/>
          </a:xfrm>
          <a:prstGeom prst="rect">
            <a:avLst/>
          </a:prstGeom>
          <a:solidFill>
            <a:srgbClr val="E1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73936"/>
            <a:ext cx="10149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2292D6"/>
                </a:solidFill>
                <a:latin typeface="Meiryo"/>
              </a:rPr>
              <a:t>Appendix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12848"/>
            <a:ext cx="10149840" cy="3182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21C2C"/>
                </a:solidFill>
                <a:latin typeface="Meiryo"/>
              </a:rPr>
              <a:t>• 元資料: sagamihara_darc_presentation_2026_20260421013752.pdf</a:t>
            </a:r>
          </a:p>
          <a:p>
            <a:r>
              <a:rPr sz="1400">
                <a:solidFill>
                  <a:srgbClr val="121C2C"/>
                </a:solidFill>
                <a:latin typeface="Meiryo"/>
              </a:rPr>
              <a:t>• 全18ページを高解像度で貼り付け</a:t>
            </a:r>
          </a:p>
          <a:p>
            <a:r>
              <a:rPr sz="1400">
                <a:solidFill>
                  <a:srgbClr val="121C2C"/>
                </a:solidFill>
                <a:latin typeface="Meiryo"/>
              </a:rPr>
              <a:t>• 既存内容を保持しつつ新規セクションを先頭に追加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